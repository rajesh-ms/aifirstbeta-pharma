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8" r:id="rId5"/>
    <p:sldId id="266" r:id="rId6"/>
    <p:sldId id="267" r:id="rId7"/>
    <p:sldId id="269" r:id="rId8"/>
    <p:sldId id="270" r:id="rId9"/>
    <p:sldId id="271" r:id="rId10"/>
    <p:sldId id="276" r:id="rId11"/>
    <p:sldId id="272" r:id="rId12"/>
    <p:sldId id="273" r:id="rId13"/>
    <p:sldId id="274" r:id="rId14"/>
    <p:sldId id="27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56E260-B15F-4D7D-AB62-6BED4CD2AFE4}" v="58" dt="2026-06-24T16:40:35.987"/>
    <p1510:client id="{E06EF4EA-FBC4-41AE-4306-12D3E671CED9}" v="20" dt="2026-06-24T16:30:57.489"/>
    <p1510:client id="{EB870543-4245-4A98-86BC-6EF4BBFD20FE}" v="61" dt="2026-06-24T16:39:52.160"/>
    <p1510:client id="{ECF3E1AA-674F-41F0-B56E-E1E04FE2F353}" v="5" dt="2026-06-24T16:34:23.6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6/11/relationships/changesInfo" Target="changesInfos/changesInfo1.xml"/><Relationship Id="rId21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lly Brennan" userId="0b6beb5c-8732-48ca-888b-987741265d1a" providerId="ADAL" clId="{2EB68642-5371-4EF1-9EE3-85BBF7C02127}"/>
    <pc:docChg chg="modSld">
      <pc:chgData name="Sally Brennan" userId="0b6beb5c-8732-48ca-888b-987741265d1a" providerId="ADAL" clId="{2EB68642-5371-4EF1-9EE3-85BBF7C02127}" dt="2026-05-05T22:07:58.332" v="6" actId="5793"/>
      <pc:docMkLst>
        <pc:docMk/>
      </pc:docMkLst>
      <pc:sldChg chg="modSp mod">
        <pc:chgData name="Sally Brennan" userId="0b6beb5c-8732-48ca-888b-987741265d1a" providerId="ADAL" clId="{2EB68642-5371-4EF1-9EE3-85BBF7C02127}" dt="2026-05-05T22:07:58.332" v="6" actId="5793"/>
        <pc:sldMkLst>
          <pc:docMk/>
          <pc:sldMk cId="987508664" sldId="270"/>
        </pc:sldMkLst>
        <pc:spChg chg="mod">
          <ac:chgData name="Sally Brennan" userId="0b6beb5c-8732-48ca-888b-987741265d1a" providerId="ADAL" clId="{2EB68642-5371-4EF1-9EE3-85BBF7C02127}" dt="2026-05-05T22:07:58.332" v="6" actId="5793"/>
          <ac:spMkLst>
            <pc:docMk/>
            <pc:sldMk cId="987508664" sldId="270"/>
            <ac:spMk id="14" creationId="{48A58C6D-5EE8-7F3C-D384-19367EA7070D}"/>
          </ac:spMkLst>
        </pc:spChg>
      </pc:sldChg>
    </pc:docChg>
  </pc:docChgLst>
  <pc:docChgLst>
    <pc:chgData name="Vincenzo Morra" userId="479f1165-d831-4a21-ad6c-9d0c9d95d32f" providerId="ADAL" clId="{1B61DC4D-AE68-4E79-9F8B-F8E8CA68A890}"/>
    <pc:docChg chg="modSld">
      <pc:chgData name="Vincenzo Morra" userId="479f1165-d831-4a21-ad6c-9d0c9d95d32f" providerId="ADAL" clId="{1B61DC4D-AE68-4E79-9F8B-F8E8CA68A890}" dt="2026-06-24T16:34:23.679" v="4" actId="20577"/>
      <pc:docMkLst>
        <pc:docMk/>
      </pc:docMkLst>
      <pc:sldChg chg="modSp mod">
        <pc:chgData name="Vincenzo Morra" userId="479f1165-d831-4a21-ad6c-9d0c9d95d32f" providerId="ADAL" clId="{1B61DC4D-AE68-4E79-9F8B-F8E8CA68A890}" dt="2026-06-24T16:34:23.679" v="4" actId="20577"/>
        <pc:sldMkLst>
          <pc:docMk/>
          <pc:sldMk cId="0" sldId="269"/>
        </pc:sldMkLst>
        <pc:graphicFrameChg chg="modGraphic">
          <ac:chgData name="Vincenzo Morra" userId="479f1165-d831-4a21-ad6c-9d0c9d95d32f" providerId="ADAL" clId="{1B61DC4D-AE68-4E79-9F8B-F8E8CA68A890}" dt="2026-06-24T16:34:23.679" v="4" actId="20577"/>
          <ac:graphicFrameMkLst>
            <pc:docMk/>
            <pc:sldMk cId="0" sldId="269"/>
            <ac:graphicFrameMk id="5" creationId="{00000000-0000-0000-0000-000000000000}"/>
          </ac:graphicFrameMkLst>
        </pc:graphicFrameChg>
      </pc:sldChg>
    </pc:docChg>
  </pc:docChgLst>
  <pc:docChgLst>
    <pc:chgData name="Nathaniel Silva Emmanuelli" userId="28164d38-0fce-4b4d-b1bb-d927c72f69f5" providerId="ADAL" clId="{34E794AD-7639-44EC-AD6B-5B06F5C0BA34}"/>
    <pc:docChg chg="undo custSel modSld">
      <pc:chgData name="Nathaniel Silva Emmanuelli" userId="28164d38-0fce-4b4d-b1bb-d927c72f69f5" providerId="ADAL" clId="{34E794AD-7639-44EC-AD6B-5B06F5C0BA34}" dt="2026-06-24T16:39:52.160" v="60" actId="20577"/>
      <pc:docMkLst>
        <pc:docMk/>
      </pc:docMkLst>
      <pc:sldChg chg="modSp mod">
        <pc:chgData name="Nathaniel Silva Emmanuelli" userId="28164d38-0fce-4b4d-b1bb-d927c72f69f5" providerId="ADAL" clId="{34E794AD-7639-44EC-AD6B-5B06F5C0BA34}" dt="2026-06-24T16:28:53.591" v="0" actId="20577"/>
        <pc:sldMkLst>
          <pc:docMk/>
          <pc:sldMk cId="0" sldId="268"/>
        </pc:sldMkLst>
        <pc:spChg chg="mod">
          <ac:chgData name="Nathaniel Silva Emmanuelli" userId="28164d38-0fce-4b4d-b1bb-d927c72f69f5" providerId="ADAL" clId="{34E794AD-7639-44EC-AD6B-5B06F5C0BA34}" dt="2026-06-24T16:28:53.591" v="0" actId="20577"/>
          <ac:spMkLst>
            <pc:docMk/>
            <pc:sldMk cId="0" sldId="268"/>
            <ac:spMk id="6" creationId="{00000000-0000-0000-0000-000000000000}"/>
          </ac:spMkLst>
        </pc:spChg>
      </pc:sldChg>
      <pc:sldChg chg="modSp mod">
        <pc:chgData name="Nathaniel Silva Emmanuelli" userId="28164d38-0fce-4b4d-b1bb-d927c72f69f5" providerId="ADAL" clId="{34E794AD-7639-44EC-AD6B-5B06F5C0BA34}" dt="2026-06-24T16:31:04.864" v="12" actId="20577"/>
        <pc:sldMkLst>
          <pc:docMk/>
          <pc:sldMk cId="0" sldId="269"/>
        </pc:sldMkLst>
        <pc:graphicFrameChg chg="modGraphic">
          <ac:chgData name="Nathaniel Silva Emmanuelli" userId="28164d38-0fce-4b4d-b1bb-d927c72f69f5" providerId="ADAL" clId="{34E794AD-7639-44EC-AD6B-5B06F5C0BA34}" dt="2026-06-24T16:31:04.864" v="12" actId="20577"/>
          <ac:graphicFrameMkLst>
            <pc:docMk/>
            <pc:sldMk cId="0" sldId="269"/>
            <ac:graphicFrameMk id="5" creationId="{00000000-0000-0000-0000-000000000000}"/>
          </ac:graphicFrameMkLst>
        </pc:graphicFrameChg>
      </pc:sldChg>
      <pc:sldChg chg="modSp mod">
        <pc:chgData name="Nathaniel Silva Emmanuelli" userId="28164d38-0fce-4b4d-b1bb-d927c72f69f5" providerId="ADAL" clId="{34E794AD-7639-44EC-AD6B-5B06F5C0BA34}" dt="2026-06-24T16:39:52.160" v="60" actId="20577"/>
        <pc:sldMkLst>
          <pc:docMk/>
          <pc:sldMk cId="305167000" sldId="276"/>
        </pc:sldMkLst>
        <pc:spChg chg="mod">
          <ac:chgData name="Nathaniel Silva Emmanuelli" userId="28164d38-0fce-4b4d-b1bb-d927c72f69f5" providerId="ADAL" clId="{34E794AD-7639-44EC-AD6B-5B06F5C0BA34}" dt="2026-06-24T16:39:35.265" v="36" actId="20577"/>
          <ac:spMkLst>
            <pc:docMk/>
            <pc:sldMk cId="305167000" sldId="276"/>
            <ac:spMk id="101" creationId="{B4A2FA05-1313-F354-5009-2EAD3FC13995}"/>
          </ac:spMkLst>
        </pc:spChg>
        <pc:spChg chg="mod">
          <ac:chgData name="Nathaniel Silva Emmanuelli" userId="28164d38-0fce-4b4d-b1bb-d927c72f69f5" providerId="ADAL" clId="{34E794AD-7639-44EC-AD6B-5B06F5C0BA34}" dt="2026-06-24T16:39:43.500" v="50" actId="20577"/>
          <ac:spMkLst>
            <pc:docMk/>
            <pc:sldMk cId="305167000" sldId="276"/>
            <ac:spMk id="103" creationId="{351B53B3-288F-F843-F9B2-1B940741821D}"/>
          </ac:spMkLst>
        </pc:spChg>
        <pc:spChg chg="mod">
          <ac:chgData name="Nathaniel Silva Emmanuelli" userId="28164d38-0fce-4b4d-b1bb-d927c72f69f5" providerId="ADAL" clId="{34E794AD-7639-44EC-AD6B-5B06F5C0BA34}" dt="2026-06-24T16:39:52.160" v="60" actId="20577"/>
          <ac:spMkLst>
            <pc:docMk/>
            <pc:sldMk cId="305167000" sldId="276"/>
            <ac:spMk id="105" creationId="{28BDA469-3004-5BDF-4E54-627950D19EB4}"/>
          </ac:spMkLst>
        </pc:spChg>
      </pc:sldChg>
    </pc:docChg>
  </pc:docChgLst>
  <pc:docChgLst>
    <pc:chgData name="Andre Idalgo Rodrigues" userId="S::andreidal@microsoft.com::7ca74652-bebc-4f15-9076-5b7c827e0050" providerId="AD" clId="Web-{E06EF4EA-FBC4-41AE-4306-12D3E671CED9}"/>
    <pc:docChg chg="modSld">
      <pc:chgData name="Andre Idalgo Rodrigues" userId="S::andreidal@microsoft.com::7ca74652-bebc-4f15-9076-5b7c827e0050" providerId="AD" clId="Web-{E06EF4EA-FBC4-41AE-4306-12D3E671CED9}" dt="2026-06-24T16:30:57.489" v="17"/>
      <pc:docMkLst>
        <pc:docMk/>
      </pc:docMkLst>
      <pc:sldChg chg="modSp">
        <pc:chgData name="Andre Idalgo Rodrigues" userId="S::andreidal@microsoft.com::7ca74652-bebc-4f15-9076-5b7c827e0050" providerId="AD" clId="Web-{E06EF4EA-FBC4-41AE-4306-12D3E671CED9}" dt="2026-06-24T16:30:57.489" v="17"/>
        <pc:sldMkLst>
          <pc:docMk/>
          <pc:sldMk cId="0" sldId="269"/>
        </pc:sldMkLst>
        <pc:graphicFrameChg chg="mod modGraphic">
          <ac:chgData name="Andre Idalgo Rodrigues" userId="S::andreidal@microsoft.com::7ca74652-bebc-4f15-9076-5b7c827e0050" providerId="AD" clId="Web-{E06EF4EA-FBC4-41AE-4306-12D3E671CED9}" dt="2026-06-24T16:30:57.489" v="17"/>
          <ac:graphicFrameMkLst>
            <pc:docMk/>
            <pc:sldMk cId="0" sldId="269"/>
            <ac:graphicFrameMk id="5" creationId="{00000000-0000-0000-0000-000000000000}"/>
          </ac:graphicFrameMkLst>
        </pc:graphicFrameChg>
      </pc:sldChg>
    </pc:docChg>
  </pc:docChgLst>
  <pc:docChgLst>
    <pc:chgData name="Jumi Sakurai" userId="7c67260e-73f6-4759-bb19-1f067a9d1d02" providerId="ADAL" clId="{20E98538-C29B-4D83-A7CE-ECF07545F0A1}"/>
    <pc:docChg chg="undo custSel addSld delSld modSld sldOrd delMainMaster modMainMaster">
      <pc:chgData name="Jumi Sakurai" userId="7c67260e-73f6-4759-bb19-1f067a9d1d02" providerId="ADAL" clId="{20E98538-C29B-4D83-A7CE-ECF07545F0A1}" dt="2026-05-04T17:50:58.985" v="250"/>
      <pc:docMkLst>
        <pc:docMk/>
      </pc:docMkLst>
      <pc:sldChg chg="addSp delSp modSp add mod">
        <pc:chgData name="Jumi Sakurai" userId="7c67260e-73f6-4759-bb19-1f067a9d1d02" providerId="ADAL" clId="{20E98538-C29B-4D83-A7CE-ECF07545F0A1}" dt="2026-04-24T06:29:07.966" v="174" actId="22"/>
        <pc:sldMkLst>
          <pc:docMk/>
          <pc:sldMk cId="0" sldId="266"/>
        </pc:sldMkLst>
        <pc:spChg chg="mod">
          <ac:chgData name="Jumi Sakurai" userId="7c67260e-73f6-4759-bb19-1f067a9d1d02" providerId="ADAL" clId="{20E98538-C29B-4D83-A7CE-ECF07545F0A1}" dt="2026-04-24T05:52:31.016" v="4" actId="6549"/>
          <ac:spMkLst>
            <pc:docMk/>
            <pc:sldMk cId="0" sldId="266"/>
            <ac:spMk id="5" creationId="{00000000-0000-0000-0000-000000000000}"/>
          </ac:spMkLst>
        </pc:spChg>
        <pc:spChg chg="add">
          <ac:chgData name="Jumi Sakurai" userId="7c67260e-73f6-4759-bb19-1f067a9d1d02" providerId="ADAL" clId="{20E98538-C29B-4D83-A7CE-ECF07545F0A1}" dt="2026-04-24T06:29:07.966" v="174" actId="22"/>
          <ac:spMkLst>
            <pc:docMk/>
            <pc:sldMk cId="0" sldId="266"/>
            <ac:spMk id="6" creationId="{98C4F984-7A1F-E620-1B8D-D16FE8015C2B}"/>
          </ac:spMkLst>
        </pc:spChg>
      </pc:sldChg>
      <pc:sldChg chg="addSp delSp modSp add mod ord">
        <pc:chgData name="Jumi Sakurai" userId="7c67260e-73f6-4759-bb19-1f067a9d1d02" providerId="ADAL" clId="{20E98538-C29B-4D83-A7CE-ECF07545F0A1}" dt="2026-04-25T00:03:36.245" v="233" actId="108"/>
        <pc:sldMkLst>
          <pc:docMk/>
          <pc:sldMk cId="0" sldId="267"/>
        </pc:sldMkLst>
        <pc:spChg chg="mod">
          <ac:chgData name="Jumi Sakurai" userId="7c67260e-73f6-4759-bb19-1f067a9d1d02" providerId="ADAL" clId="{20E98538-C29B-4D83-A7CE-ECF07545F0A1}" dt="2026-04-24T06:28:14.026" v="166" actId="207"/>
          <ac:spMkLst>
            <pc:docMk/>
            <pc:sldMk cId="0" sldId="267"/>
            <ac:spMk id="5" creationId="{00000000-0000-0000-0000-000000000000}"/>
          </ac:spMkLst>
        </pc:spChg>
        <pc:spChg chg="mod">
          <ac:chgData name="Jumi Sakurai" userId="7c67260e-73f6-4759-bb19-1f067a9d1d02" providerId="ADAL" clId="{20E98538-C29B-4D83-A7CE-ECF07545F0A1}" dt="2026-04-24T06:28:14.026" v="166" actId="207"/>
          <ac:spMkLst>
            <pc:docMk/>
            <pc:sldMk cId="0" sldId="267"/>
            <ac:spMk id="7" creationId="{00000000-0000-0000-0000-000000000000}"/>
          </ac:spMkLst>
        </pc:spChg>
        <pc:spChg chg="mod">
          <ac:chgData name="Jumi Sakurai" userId="7c67260e-73f6-4759-bb19-1f067a9d1d02" providerId="ADAL" clId="{20E98538-C29B-4D83-A7CE-ECF07545F0A1}" dt="2026-04-24T06:28:14.026" v="166" actId="207"/>
          <ac:spMkLst>
            <pc:docMk/>
            <pc:sldMk cId="0" sldId="267"/>
            <ac:spMk id="9" creationId="{00000000-0000-0000-0000-000000000000}"/>
          </ac:spMkLst>
        </pc:spChg>
        <pc:spChg chg="mod">
          <ac:chgData name="Jumi Sakurai" userId="7c67260e-73f6-4759-bb19-1f067a9d1d02" providerId="ADAL" clId="{20E98538-C29B-4D83-A7CE-ECF07545F0A1}" dt="2026-04-24T06:28:14.026" v="166" actId="207"/>
          <ac:spMkLst>
            <pc:docMk/>
            <pc:sldMk cId="0" sldId="267"/>
            <ac:spMk id="11" creationId="{00000000-0000-0000-0000-000000000000}"/>
          </ac:spMkLst>
        </pc:spChg>
        <pc:spChg chg="mod">
          <ac:chgData name="Jumi Sakurai" userId="7c67260e-73f6-4759-bb19-1f067a9d1d02" providerId="ADAL" clId="{20E98538-C29B-4D83-A7CE-ECF07545F0A1}" dt="2026-04-24T06:28:14.026" v="166" actId="207"/>
          <ac:spMkLst>
            <pc:docMk/>
            <pc:sldMk cId="0" sldId="267"/>
            <ac:spMk id="13" creationId="{00000000-0000-0000-0000-000000000000}"/>
          </ac:spMkLst>
        </pc:spChg>
        <pc:spChg chg="mod">
          <ac:chgData name="Jumi Sakurai" userId="7c67260e-73f6-4759-bb19-1f067a9d1d02" providerId="ADAL" clId="{20E98538-C29B-4D83-A7CE-ECF07545F0A1}" dt="2026-04-24T06:18:55.434" v="93" actId="2711"/>
          <ac:spMkLst>
            <pc:docMk/>
            <pc:sldMk cId="0" sldId="267"/>
            <ac:spMk id="15" creationId="{00000000-0000-0000-0000-000000000000}"/>
          </ac:spMkLst>
        </pc:spChg>
        <pc:spChg chg="mod">
          <ac:chgData name="Jumi Sakurai" userId="7c67260e-73f6-4759-bb19-1f067a9d1d02" providerId="ADAL" clId="{20E98538-C29B-4D83-A7CE-ECF07545F0A1}" dt="2026-04-24T05:54:37.570" v="15" actId="1076"/>
          <ac:spMkLst>
            <pc:docMk/>
            <pc:sldMk cId="0" sldId="267"/>
            <ac:spMk id="20" creationId="{456DA4CB-1278-733E-A7FE-F428E729EC10}"/>
          </ac:spMkLst>
        </pc:spChg>
        <pc:spChg chg="mod">
          <ac:chgData name="Jumi Sakurai" userId="7c67260e-73f6-4759-bb19-1f067a9d1d02" providerId="ADAL" clId="{20E98538-C29B-4D83-A7CE-ECF07545F0A1}" dt="2026-04-24T23:21:33.700" v="226"/>
          <ac:spMkLst>
            <pc:docMk/>
            <pc:sldMk cId="0" sldId="267"/>
            <ac:spMk id="21" creationId="{57A01E65-4AE5-8101-5CE9-08C94107AB18}"/>
          </ac:spMkLst>
        </pc:spChg>
        <pc:spChg chg="add">
          <ac:chgData name="Jumi Sakurai" userId="7c67260e-73f6-4759-bb19-1f067a9d1d02" providerId="ADAL" clId="{20E98538-C29B-4D83-A7CE-ECF07545F0A1}" dt="2026-04-24T06:29:01.829" v="172" actId="22"/>
          <ac:spMkLst>
            <pc:docMk/>
            <pc:sldMk cId="0" sldId="267"/>
            <ac:spMk id="24" creationId="{4DBFCAA0-C31B-2DCB-DD5D-20D8F007471D}"/>
          </ac:spMkLst>
        </pc:spChg>
        <pc:picChg chg="add mod modCrop">
          <ac:chgData name="Jumi Sakurai" userId="7c67260e-73f6-4759-bb19-1f067a9d1d02" providerId="ADAL" clId="{20E98538-C29B-4D83-A7CE-ECF07545F0A1}" dt="2026-04-25T00:03:29.269" v="229"/>
          <ac:picMkLst>
            <pc:docMk/>
            <pc:sldMk cId="0" sldId="267"/>
            <ac:picMk id="4" creationId="{A5D60080-212A-D081-8721-E057EB79872A}"/>
          </ac:picMkLst>
        </pc:picChg>
        <pc:picChg chg="add mod modCrop">
          <ac:chgData name="Jumi Sakurai" userId="7c67260e-73f6-4759-bb19-1f067a9d1d02" providerId="ADAL" clId="{20E98538-C29B-4D83-A7CE-ECF07545F0A1}" dt="2026-04-25T00:03:33.316" v="230" actId="108"/>
          <ac:picMkLst>
            <pc:docMk/>
            <pc:sldMk cId="0" sldId="267"/>
            <ac:picMk id="8" creationId="{9925525D-48B2-71BA-B30E-A76E828D2A53}"/>
          </ac:picMkLst>
        </pc:picChg>
        <pc:picChg chg="add mod modCrop">
          <ac:chgData name="Jumi Sakurai" userId="7c67260e-73f6-4759-bb19-1f067a9d1d02" providerId="ADAL" clId="{20E98538-C29B-4D83-A7CE-ECF07545F0A1}" dt="2026-04-25T00:03:34.388" v="231" actId="108"/>
          <ac:picMkLst>
            <pc:docMk/>
            <pc:sldMk cId="0" sldId="267"/>
            <ac:picMk id="12" creationId="{7E126942-09B8-7468-80FD-1333442EBE76}"/>
          </ac:picMkLst>
        </pc:picChg>
        <pc:picChg chg="add mod modCrop">
          <ac:chgData name="Jumi Sakurai" userId="7c67260e-73f6-4759-bb19-1f067a9d1d02" providerId="ADAL" clId="{20E98538-C29B-4D83-A7CE-ECF07545F0A1}" dt="2026-04-25T00:03:36.245" v="233" actId="108"/>
          <ac:picMkLst>
            <pc:docMk/>
            <pc:sldMk cId="0" sldId="267"/>
            <ac:picMk id="18" creationId="{80C3E043-4235-16A7-4CC1-FFD9021A9CAF}"/>
          </ac:picMkLst>
        </pc:picChg>
        <pc:picChg chg="add mod modCrop">
          <ac:chgData name="Jumi Sakurai" userId="7c67260e-73f6-4759-bb19-1f067a9d1d02" providerId="ADAL" clId="{20E98538-C29B-4D83-A7CE-ECF07545F0A1}" dt="2026-04-25T00:03:35.398" v="232" actId="108"/>
          <ac:picMkLst>
            <pc:docMk/>
            <pc:sldMk cId="0" sldId="267"/>
            <ac:picMk id="22" creationId="{A6465351-623D-FA37-1787-038E948994D1}"/>
          </ac:picMkLst>
        </pc:picChg>
      </pc:sldChg>
      <pc:sldChg chg="addSp delSp modSp add mod ord">
        <pc:chgData name="Jumi Sakurai" userId="7c67260e-73f6-4759-bb19-1f067a9d1d02" providerId="ADAL" clId="{20E98538-C29B-4D83-A7CE-ECF07545F0A1}" dt="2026-04-24T07:09:36.039" v="223" actId="22"/>
        <pc:sldMkLst>
          <pc:docMk/>
          <pc:sldMk cId="0" sldId="268"/>
        </pc:sldMkLst>
        <pc:spChg chg="mod">
          <ac:chgData name="Jumi Sakurai" userId="7c67260e-73f6-4759-bb19-1f067a9d1d02" providerId="ADAL" clId="{20E98538-C29B-4D83-A7CE-ECF07545F0A1}" dt="2026-04-24T06:09:40.602" v="31" actId="1076"/>
          <ac:spMkLst>
            <pc:docMk/>
            <pc:sldMk cId="0" sldId="268"/>
            <ac:spMk id="4" creationId="{00000000-0000-0000-0000-000000000000}"/>
          </ac:spMkLst>
        </pc:spChg>
        <pc:spChg chg="mod">
          <ac:chgData name="Jumi Sakurai" userId="7c67260e-73f6-4759-bb19-1f067a9d1d02" providerId="ADAL" clId="{20E98538-C29B-4D83-A7CE-ECF07545F0A1}" dt="2026-04-24T06:41:10.933" v="217" actId="20577"/>
          <ac:spMkLst>
            <pc:docMk/>
            <pc:sldMk cId="0" sldId="268"/>
            <ac:spMk id="5" creationId="{00000000-0000-0000-0000-000000000000}"/>
          </ac:spMkLst>
        </pc:spChg>
        <pc:spChg chg="mod">
          <ac:chgData name="Jumi Sakurai" userId="7c67260e-73f6-4759-bb19-1f067a9d1d02" providerId="ADAL" clId="{20E98538-C29B-4D83-A7CE-ECF07545F0A1}" dt="2026-04-24T06:10:20.249" v="41" actId="1076"/>
          <ac:spMkLst>
            <pc:docMk/>
            <pc:sldMk cId="0" sldId="268"/>
            <ac:spMk id="10" creationId="{A80777E1-B797-E64A-56B4-4AD7291F9E1F}"/>
          </ac:spMkLst>
        </pc:spChg>
        <pc:spChg chg="add">
          <ac:chgData name="Jumi Sakurai" userId="7c67260e-73f6-4759-bb19-1f067a9d1d02" providerId="ADAL" clId="{20E98538-C29B-4D83-A7CE-ECF07545F0A1}" dt="2026-04-24T07:09:36.039" v="223" actId="22"/>
          <ac:spMkLst>
            <pc:docMk/>
            <pc:sldMk cId="0" sldId="268"/>
            <ac:spMk id="14" creationId="{97BAA811-4304-5F40-EFF1-4381B06F0B34}"/>
          </ac:spMkLst>
        </pc:spChg>
        <pc:picChg chg="add mod ord modCrop">
          <ac:chgData name="Jumi Sakurai" userId="7c67260e-73f6-4759-bb19-1f067a9d1d02" providerId="ADAL" clId="{20E98538-C29B-4D83-A7CE-ECF07545F0A1}" dt="2026-04-24T06:10:15.752" v="40" actId="167"/>
          <ac:picMkLst>
            <pc:docMk/>
            <pc:sldMk cId="0" sldId="268"/>
            <ac:picMk id="8" creationId="{B4E3C57C-0C2A-D2BA-BB31-1026F3B27E44}"/>
          </ac:picMkLst>
        </pc:picChg>
        <pc:picChg chg="add mod modCrop">
          <ac:chgData name="Jumi Sakurai" userId="7c67260e-73f6-4759-bb19-1f067a9d1d02" providerId="ADAL" clId="{20E98538-C29B-4D83-A7CE-ECF07545F0A1}" dt="2026-04-24T06:41:24.291" v="221" actId="962"/>
          <ac:picMkLst>
            <pc:docMk/>
            <pc:sldMk cId="0" sldId="268"/>
            <ac:picMk id="12" creationId="{E19FF66F-8295-AD66-04DA-2766D5D4CA0C}"/>
          </ac:picMkLst>
        </pc:picChg>
      </pc:sldChg>
      <pc:sldChg chg="addSp delSp modSp add mod ord">
        <pc:chgData name="Jumi Sakurai" userId="7c67260e-73f6-4759-bb19-1f067a9d1d02" providerId="ADAL" clId="{20E98538-C29B-4D83-A7CE-ECF07545F0A1}" dt="2026-04-24T06:28:54.726" v="170" actId="22"/>
        <pc:sldMkLst>
          <pc:docMk/>
          <pc:sldMk cId="0" sldId="269"/>
        </pc:sldMkLst>
        <pc:spChg chg="add">
          <ac:chgData name="Jumi Sakurai" userId="7c67260e-73f6-4759-bb19-1f067a9d1d02" providerId="ADAL" clId="{20E98538-C29B-4D83-A7CE-ECF07545F0A1}" dt="2026-04-24T06:28:54.726" v="170" actId="22"/>
          <ac:spMkLst>
            <pc:docMk/>
            <pc:sldMk cId="0" sldId="269"/>
            <ac:spMk id="3" creationId="{27E31C9C-B116-F7E4-AC82-2A8716A0E4B4}"/>
          </ac:spMkLst>
        </pc:spChg>
        <pc:graphicFrameChg chg="mod">
          <ac:chgData name="Jumi Sakurai" userId="7c67260e-73f6-4759-bb19-1f067a9d1d02" providerId="ADAL" clId="{20E98538-C29B-4D83-A7CE-ECF07545F0A1}" dt="2026-04-24T06:21:18.974" v="101"/>
          <ac:graphicFrameMkLst>
            <pc:docMk/>
            <pc:sldMk cId="0" sldId="269"/>
            <ac:graphicFrameMk id="5" creationId="{00000000-0000-0000-0000-000000000000}"/>
          </ac:graphicFrameMkLst>
        </pc:graphicFrameChg>
      </pc:sldChg>
      <pc:sldChg chg="delSp modSp add mod ord">
        <pc:chgData name="Jumi Sakurai" userId="7c67260e-73f6-4759-bb19-1f067a9d1d02" providerId="ADAL" clId="{20E98538-C29B-4D83-A7CE-ECF07545F0A1}" dt="2026-04-24T06:28:33.412" v="169" actId="478"/>
        <pc:sldMkLst>
          <pc:docMk/>
          <pc:sldMk cId="987508664" sldId="270"/>
        </pc:sldMkLst>
        <pc:spChg chg="mod">
          <ac:chgData name="Jumi Sakurai" userId="7c67260e-73f6-4759-bb19-1f067a9d1d02" providerId="ADAL" clId="{20E98538-C29B-4D83-A7CE-ECF07545F0A1}" dt="2026-04-24T06:28:23.060" v="168" actId="207"/>
          <ac:spMkLst>
            <pc:docMk/>
            <pc:sldMk cId="987508664" sldId="270"/>
            <ac:spMk id="3" creationId="{33E5FB49-73ED-7462-1780-4AC645C1C314}"/>
          </ac:spMkLst>
        </pc:spChg>
        <pc:spChg chg="mod">
          <ac:chgData name="Jumi Sakurai" userId="7c67260e-73f6-4759-bb19-1f067a9d1d02" providerId="ADAL" clId="{20E98538-C29B-4D83-A7CE-ECF07545F0A1}" dt="2026-04-24T06:28:23.060" v="168" actId="207"/>
          <ac:spMkLst>
            <pc:docMk/>
            <pc:sldMk cId="987508664" sldId="270"/>
            <ac:spMk id="14" creationId="{48A58C6D-5EE8-7F3C-D384-19367EA7070D}"/>
          </ac:spMkLst>
        </pc:spChg>
      </pc:sldChg>
      <pc:sldChg chg="delSp modSp add mod ord">
        <pc:chgData name="Jumi Sakurai" userId="7c67260e-73f6-4759-bb19-1f067a9d1d02" providerId="ADAL" clId="{20E98538-C29B-4D83-A7CE-ECF07545F0A1}" dt="2026-04-25T04:07:32.154" v="239" actId="207"/>
        <pc:sldMkLst>
          <pc:docMk/>
          <pc:sldMk cId="2833808009" sldId="271"/>
        </pc:sldMkLst>
        <pc:graphicFrameChg chg="mod modGraphic">
          <ac:chgData name="Jumi Sakurai" userId="7c67260e-73f6-4759-bb19-1f067a9d1d02" providerId="ADAL" clId="{20E98538-C29B-4D83-A7CE-ECF07545F0A1}" dt="2026-04-25T04:07:32.154" v="239" actId="207"/>
          <ac:graphicFrameMkLst>
            <pc:docMk/>
            <pc:sldMk cId="2833808009" sldId="271"/>
            <ac:graphicFrameMk id="4" creationId="{A8D7660D-6120-DFEB-AA06-59BE97E504A2}"/>
          </ac:graphicFrameMkLst>
        </pc:graphicFrameChg>
      </pc:sldChg>
      <pc:sldChg chg="delSp modSp add mod ord">
        <pc:chgData name="Jumi Sakurai" userId="7c67260e-73f6-4759-bb19-1f067a9d1d02" providerId="ADAL" clId="{20E98538-C29B-4D83-A7CE-ECF07545F0A1}" dt="2026-04-24T06:33:29.781" v="189" actId="478"/>
        <pc:sldMkLst>
          <pc:docMk/>
          <pc:sldMk cId="3571898037" sldId="272"/>
        </pc:sldMkLst>
      </pc:sldChg>
      <pc:sldChg chg="delSp add mod ord">
        <pc:chgData name="Jumi Sakurai" userId="7c67260e-73f6-4759-bb19-1f067a9d1d02" providerId="ADAL" clId="{20E98538-C29B-4D83-A7CE-ECF07545F0A1}" dt="2026-04-24T06:34:19.521" v="194" actId="478"/>
        <pc:sldMkLst>
          <pc:docMk/>
          <pc:sldMk cId="3052546735" sldId="273"/>
        </pc:sldMkLst>
      </pc:sldChg>
      <pc:sldChg chg="delSp add mod ord">
        <pc:chgData name="Jumi Sakurai" userId="7c67260e-73f6-4759-bb19-1f067a9d1d02" providerId="ADAL" clId="{20E98538-C29B-4D83-A7CE-ECF07545F0A1}" dt="2026-04-24T06:34:52.614" v="200" actId="478"/>
        <pc:sldMkLst>
          <pc:docMk/>
          <pc:sldMk cId="2064933873" sldId="274"/>
        </pc:sldMkLst>
      </pc:sldChg>
      <pc:sldChg chg="add ord">
        <pc:chgData name="Jumi Sakurai" userId="7c67260e-73f6-4759-bb19-1f067a9d1d02" providerId="ADAL" clId="{20E98538-C29B-4D83-A7CE-ECF07545F0A1}" dt="2026-04-24T06:35:13.005" v="205"/>
        <pc:sldMkLst>
          <pc:docMk/>
          <pc:sldMk cId="1682147955" sldId="275"/>
        </pc:sldMkLst>
      </pc:sldChg>
      <pc:sldChg chg="add">
        <pc:chgData name="Jumi Sakurai" userId="7c67260e-73f6-4759-bb19-1f067a9d1d02" providerId="ADAL" clId="{20E98538-C29B-4D83-A7CE-ECF07545F0A1}" dt="2026-05-04T17:50:58.985" v="250"/>
        <pc:sldMkLst>
          <pc:docMk/>
          <pc:sldMk cId="305167000" sldId="276"/>
        </pc:sldMkLst>
      </pc:sldChg>
      <pc:sldMasterChg chg="modSldLayout">
        <pc:chgData name="Jumi Sakurai" userId="7c67260e-73f6-4759-bb19-1f067a9d1d02" providerId="ADAL" clId="{20E98538-C29B-4D83-A7CE-ECF07545F0A1}" dt="2026-04-25T00:04:16.503" v="235"/>
        <pc:sldMasterMkLst>
          <pc:docMk/>
          <pc:sldMasterMk cId="544083878" sldId="2147483660"/>
        </pc:sldMasterMkLst>
        <pc:sldLayoutChg chg="addSp delSp modSp mod">
          <pc:chgData name="Jumi Sakurai" userId="7c67260e-73f6-4759-bb19-1f067a9d1d02" providerId="ADAL" clId="{20E98538-C29B-4D83-A7CE-ECF07545F0A1}" dt="2026-04-25T00:04:16.503" v="235"/>
          <pc:sldLayoutMkLst>
            <pc:docMk/>
            <pc:sldMasterMk cId="544083878" sldId="2147483660"/>
            <pc:sldLayoutMk cId="1450535049" sldId="2147483663"/>
          </pc:sldLayoutMkLst>
          <pc:spChg chg="mod">
            <ac:chgData name="Jumi Sakurai" userId="7c67260e-73f6-4759-bb19-1f067a9d1d02" providerId="ADAL" clId="{20E98538-C29B-4D83-A7CE-ECF07545F0A1}" dt="2026-04-24T07:09:59.223" v="225" actId="962"/>
            <ac:spMkLst>
              <pc:docMk/>
              <pc:sldMasterMk cId="544083878" sldId="2147483660"/>
              <pc:sldLayoutMk cId="1450535049" sldId="2147483663"/>
              <ac:spMk id="10" creationId="{EAEC308C-A43C-59E4-53C1-04BA0232E2EB}"/>
            </ac:spMkLst>
          </pc:spChg>
          <pc:spChg chg="add">
            <ac:chgData name="Jumi Sakurai" userId="7c67260e-73f6-4759-bb19-1f067a9d1d02" providerId="ADAL" clId="{20E98538-C29B-4D83-A7CE-ECF07545F0A1}" dt="2026-04-24T06:22:04.067" v="105" actId="22"/>
            <ac:spMkLst>
              <pc:docMk/>
              <pc:sldMasterMk cId="544083878" sldId="2147483660"/>
              <pc:sldLayoutMk cId="1450535049" sldId="2147483663"/>
              <ac:spMk id="12" creationId="{963E57D3-82F1-3802-8E63-E01E3EC547C2}"/>
            </ac:spMkLst>
          </pc:spChg>
          <pc:picChg chg="add mod ord modCrop">
            <ac:chgData name="Jumi Sakurai" userId="7c67260e-73f6-4759-bb19-1f067a9d1d02" providerId="ADAL" clId="{20E98538-C29B-4D83-A7CE-ECF07545F0A1}" dt="2026-04-25T00:04:16.503" v="235"/>
            <ac:picMkLst>
              <pc:docMk/>
              <pc:sldMasterMk cId="544083878" sldId="2147483660"/>
              <pc:sldLayoutMk cId="1450535049" sldId="2147483663"/>
              <ac:picMk id="5" creationId="{4EA16DF5-6E21-2651-E896-62C107ED7859}"/>
            </ac:picMkLst>
          </pc:picChg>
        </pc:sldLayoutChg>
        <pc:sldLayoutChg chg="modSp mod">
          <pc:chgData name="Jumi Sakurai" userId="7c67260e-73f6-4759-bb19-1f067a9d1d02" providerId="ADAL" clId="{20E98538-C29B-4D83-A7CE-ECF07545F0A1}" dt="2026-04-24T07:09:51.139" v="224" actId="962"/>
          <pc:sldLayoutMkLst>
            <pc:docMk/>
            <pc:sldMasterMk cId="544083878" sldId="2147483660"/>
            <pc:sldLayoutMk cId="3709966061" sldId="2147483669"/>
          </pc:sldLayoutMkLst>
          <pc:spChg chg="mod">
            <ac:chgData name="Jumi Sakurai" userId="7c67260e-73f6-4759-bb19-1f067a9d1d02" providerId="ADAL" clId="{20E98538-C29B-4D83-A7CE-ECF07545F0A1}" dt="2026-04-24T07:09:51.139" v="224" actId="962"/>
            <ac:spMkLst>
              <pc:docMk/>
              <pc:sldMasterMk cId="544083878" sldId="2147483660"/>
              <pc:sldLayoutMk cId="3709966061" sldId="2147483669"/>
              <ac:spMk id="8" creationId="{57A63FEE-F13E-E890-68A6-1C8EB5D30E87}"/>
            </ac:spMkLst>
          </pc:spChg>
        </pc:sldLayoutChg>
      </pc:sldMasterChg>
    </pc:docChg>
  </pc:docChgLst>
  <pc:docChgLst>
    <pc:chgData name="Heather Audet" userId="e50919c9-835d-4b40-84d9-ac02d0cdccc5" providerId="ADAL" clId="{2B0CCDD6-EDB2-4670-A6C1-3CEF6064A69A}"/>
    <pc:docChg chg="modSld">
      <pc:chgData name="Heather Audet" userId="e50919c9-835d-4b40-84d9-ac02d0cdccc5" providerId="ADAL" clId="{2B0CCDD6-EDB2-4670-A6C1-3CEF6064A69A}" dt="2026-06-24T16:40:35.987" v="57" actId="255"/>
      <pc:docMkLst>
        <pc:docMk/>
      </pc:docMkLst>
      <pc:sldChg chg="modSp mod">
        <pc:chgData name="Heather Audet" userId="e50919c9-835d-4b40-84d9-ac02d0cdccc5" providerId="ADAL" clId="{2B0CCDD6-EDB2-4670-A6C1-3CEF6064A69A}" dt="2026-06-24T16:31:08.885" v="9" actId="20577"/>
        <pc:sldMkLst>
          <pc:docMk/>
          <pc:sldMk cId="0" sldId="269"/>
        </pc:sldMkLst>
        <pc:graphicFrameChg chg="modGraphic">
          <ac:chgData name="Heather Audet" userId="e50919c9-835d-4b40-84d9-ac02d0cdccc5" providerId="ADAL" clId="{2B0CCDD6-EDB2-4670-A6C1-3CEF6064A69A}" dt="2026-06-24T16:31:08.885" v="9" actId="20577"/>
          <ac:graphicFrameMkLst>
            <pc:docMk/>
            <pc:sldMk cId="0" sldId="269"/>
            <ac:graphicFrameMk id="5" creationId="{00000000-0000-0000-0000-000000000000}"/>
          </ac:graphicFrameMkLst>
        </pc:graphicFrameChg>
      </pc:sldChg>
      <pc:sldChg chg="modSp mod">
        <pc:chgData name="Heather Audet" userId="e50919c9-835d-4b40-84d9-ac02d0cdccc5" providerId="ADAL" clId="{2B0CCDD6-EDB2-4670-A6C1-3CEF6064A69A}" dt="2026-06-24T16:40:35.987" v="57" actId="255"/>
        <pc:sldMkLst>
          <pc:docMk/>
          <pc:sldMk cId="2833808009" sldId="271"/>
        </pc:sldMkLst>
        <pc:graphicFrameChg chg="mod modGraphic">
          <ac:chgData name="Heather Audet" userId="e50919c9-835d-4b40-84d9-ac02d0cdccc5" providerId="ADAL" clId="{2B0CCDD6-EDB2-4670-A6C1-3CEF6064A69A}" dt="2026-06-24T16:40:35.987" v="57" actId="255"/>
          <ac:graphicFrameMkLst>
            <pc:docMk/>
            <pc:sldMk cId="2833808009" sldId="271"/>
            <ac:graphicFrameMk id="4" creationId="{A8D7660D-6120-DFEB-AA06-59BE97E504A2}"/>
          </ac:graphicFrameMkLst>
        </pc:graphicFrame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Left Title Black Bk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425780"/>
            <a:ext cx="5511800" cy="1107996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l">
              <a:defRPr sz="36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551180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2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7" name="MS logo white - EMF" descr="Microsoft logo white text version">
            <a:extLst>
              <a:ext uri="{FF2B5EF4-FFF2-40B4-BE49-F238E27FC236}">
                <a16:creationId xmlns:a16="http://schemas.microsoft.com/office/drawing/2014/main" id="{0FD32619-3819-428A-8565-629596C914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4815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3840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A16DF5-6E21-2651-E896-62C107ED78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</a:extLst>
          </a:blip>
          <a:srcRect b="15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11141565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>
              <a:defRPr lang="en-US" sz="3600" b="0" cap="none" spc="-50" baseline="0" dirty="0">
                <a:ln w="3175">
                  <a:noFill/>
                </a:ln>
                <a:effectLst/>
                <a:ea typeface="+mn-ea"/>
                <a:cs typeface="Segoe UI" pitchFamily="34" charset="0"/>
              </a:defRPr>
            </a:lvl1pPr>
          </a:lstStyle>
          <a:p>
            <a:pPr lvl="0" algn="l" defTabSz="932742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EC308C-A43C-59E4-53C1-04BA0232E2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55F95E2-6278-840F-EAEA-A9ED2D12D8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199" y="975715"/>
            <a:ext cx="11141564" cy="365125"/>
          </a:xfrm>
          <a:prstGeom prst="rect">
            <a:avLst/>
          </a:prstGeom>
        </p:spPr>
        <p:txBody>
          <a:bodyPr lIns="0"/>
          <a:lstStyle>
            <a:lvl1pPr algn="l">
              <a:buNone/>
              <a:defRPr sz="1400" i="1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3E57D3-82F1-3802-8E63-E01E3EC547C2}"/>
              </a:ext>
            </a:extLst>
          </p:cNvPr>
          <p:cNvSpPr txBox="1"/>
          <p:nvPr userDrawn="1"/>
        </p:nvSpPr>
        <p:spPr>
          <a:xfrm>
            <a:off x="365760" y="6537960"/>
            <a:ext cx="407355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900" b="0" i="1">
                <a:solidFill>
                  <a:srgbClr val="6B6B6B"/>
                </a:solidFill>
                <a:latin typeface="Calibri"/>
              </a:defRPr>
            </a:pP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AI-First Architecting Value with AI  |  Grounded in the Customer — Pharmaceuticals</a:t>
            </a:r>
          </a:p>
        </p:txBody>
      </p:sp>
    </p:spTree>
    <p:extLst>
      <p:ext uri="{BB962C8B-B14F-4D97-AF65-F5344CB8AC3E}">
        <p14:creationId xmlns:p14="http://schemas.microsoft.com/office/powerpoint/2010/main" val="1450535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3600" b="0" cap="none" spc="-50" baseline="0" dirty="0">
                <a:ln w="3175">
                  <a:noFill/>
                </a:ln>
                <a:effectLst/>
                <a:ea typeface="+mn-ea"/>
                <a:cs typeface="Segoe UI" pitchFamily="34" charset="0"/>
              </a:defRPr>
            </a:lvl1pPr>
          </a:lstStyle>
          <a:p>
            <a:pPr lvl="0" algn="l" defTabSz="932742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239756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E4C3F4F8-4402-CF7F-453A-5D791400A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pPr algn="ctr"/>
            <a:endParaRPr 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7DDEBC48-607B-D42F-7241-33415344D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73900" y="6348721"/>
            <a:ext cx="1420695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pPr algn="r"/>
            <a:fld id="{C1FF6DA9-008F-8B48-92A6-B652298478B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70D57D-346B-F858-6872-677AA80CE591}"/>
              </a:ext>
            </a:extLst>
          </p:cNvPr>
          <p:cNvSpPr/>
          <p:nvPr userDrawn="1"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820196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3600" b="0" cap="none" spc="-50" baseline="0" dirty="0">
                <a:ln w="3175">
                  <a:noFill/>
                </a:ln>
                <a:effectLst/>
                <a:ea typeface="+mn-ea"/>
                <a:cs typeface="Segoe UI" pitchFamily="34" charset="0"/>
              </a:defRPr>
            </a:lvl1pPr>
          </a:lstStyle>
          <a:p>
            <a:pPr lvl="0" algn="l" defTabSz="932742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319536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8DAE3174-F8CC-E826-BCB8-60B5A9B28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pPr algn="ctr"/>
            <a:endParaRPr 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5CCB410E-B977-86A8-D057-373BA5780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73900" y="6348721"/>
            <a:ext cx="1420695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pPr algn="r"/>
            <a:fld id="{C1FF6DA9-008F-8B48-92A6-B652298478B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0804A2-2884-0625-86F6-605CEA464243}"/>
              </a:ext>
            </a:extLst>
          </p:cNvPr>
          <p:cNvSpPr/>
          <p:nvPr userDrawn="1"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750194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26F9B73C-310F-FBBC-B1C5-EE1B1E2C8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pPr algn="ctr"/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B6206A7-CB8F-639C-EA9C-3F263D65A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73900" y="6348721"/>
            <a:ext cx="1420695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pPr algn="r"/>
            <a:fld id="{C1FF6DA9-008F-8B48-92A6-B652298478B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A63FEE-F13E-E890-68A6-1C8EB5D30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70996606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screenshot, colorfulness&#10;&#10;Description automatically generated">
            <a:extLst>
              <a:ext uri="{FF2B5EF4-FFF2-40B4-BE49-F238E27FC236}">
                <a16:creationId xmlns:a16="http://schemas.microsoft.com/office/drawing/2014/main" id="{FBE4EE1B-40D7-D076-6049-390D913335E3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53532" y="0"/>
            <a:ext cx="10400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083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5" r:id="rId4"/>
    <p:sldLayoutId id="2147483669" r:id="rId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4E3C57C-0C2A-D2BA-BB31-1026F3B27E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80777E1-B797-E64A-56B4-4AD7291F9E1F}"/>
              </a:ext>
            </a:extLst>
          </p:cNvPr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tx1">
              <a:alpha val="2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4420313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1F9EB7"/>
                </a:solidFill>
                <a:latin typeface="Calibri"/>
              </a:defRPr>
            </a:pPr>
            <a:r>
              <a:rPr>
                <a:solidFill>
                  <a:srgbClr val="95C7E7"/>
                </a:solidFill>
              </a:rPr>
              <a:t>ARCHITECT TRANSFORMATION PROGRAM  |  TEAM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972800" cy="181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defRPr sz="5000" b="1" i="0">
                <a:solidFill>
                  <a:srgbClr val="14366E"/>
                </a:solidFill>
                <a:latin typeface="Calibri"/>
              </a:defRPr>
            </a:pPr>
            <a:r>
              <a:rPr>
                <a:solidFill>
                  <a:schemeClr val="bg1"/>
                </a:solidFill>
                <a:latin typeface="+mj-lt"/>
              </a:rPr>
              <a:t>Grounded in the Customer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3200" b="1" i="0">
                <a:solidFill>
                  <a:srgbClr val="2E6ED4"/>
                </a:solidFill>
                <a:latin typeface="Calibri"/>
              </a:defRPr>
            </a:pPr>
            <a:r>
              <a:rPr lang="en-US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</a:rPr>
              <a:t>Pharmaceuticals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800" b="0" i="1">
                <a:solidFill>
                  <a:srgbClr val="6B6B6B"/>
                </a:solidFill>
                <a:latin typeface="Calibri"/>
              </a:defRPr>
            </a:pPr>
            <a:r>
              <a:rPr lang="en-US">
                <a:solidFill>
                  <a:schemeClr val="bg1">
                    <a:lumMod val="75000"/>
                  </a:schemeClr>
                </a:solidFill>
                <a:latin typeface="+mj-lt"/>
              </a:rPr>
              <a:t>R&amp;D + Manufacturing + Regulatory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54880"/>
            <a:ext cx="7870231" cy="6309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 i="0">
                <a:solidFill>
                  <a:srgbClr val="1F1F1F"/>
                </a:solidFill>
                <a:latin typeface="Calibri"/>
              </a:defRPr>
            </a:pPr>
            <a:r>
              <a:rPr>
                <a:solidFill>
                  <a:schemeClr val="bg1"/>
                </a:solidFill>
              </a:rPr>
              <a:t>Example: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 i="1">
                <a:solidFill>
                  <a:srgbClr val="6B6B6B"/>
                </a:solidFill>
                <a:latin typeface="Calibri"/>
              </a:defRPr>
            </a:pPr>
            <a:r>
              <a:rPr>
                <a:solidFill>
                  <a:schemeClr val="bg1"/>
                </a:solidFill>
              </a:rPr>
              <a:t>Build customer credibility by understanding the business pressures — before any technology conversation.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314220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 i="1">
                <a:solidFill>
                  <a:srgbClr val="6B6B6B"/>
                </a:solidFill>
                <a:latin typeface="Calibri"/>
              </a:defRPr>
            </a:pPr>
            <a:r>
              <a:t>AI-First Architecting Value with AI  |  Grounded in the Customer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4670" y="6537960"/>
            <a:ext cx="45397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900" b="0" i="0">
                <a:solidFill>
                  <a:srgbClr val="6B6B6B"/>
                </a:solidFill>
                <a:latin typeface="Calibri"/>
              </a:defRPr>
            </a:pPr>
            <a:r>
              <a:t>1 / 10</a:t>
            </a:r>
          </a:p>
        </p:txBody>
      </p:sp>
      <p:pic>
        <p:nvPicPr>
          <p:cNvPr id="12" name="Picture 11" descr="MERCK">
            <a:extLst>
              <a:ext uri="{FF2B5EF4-FFF2-40B4-BE49-F238E27FC236}">
                <a16:creationId xmlns:a16="http://schemas.microsoft.com/office/drawing/2014/main" id="{E19FF66F-8295-AD66-04DA-2766D5D4CA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776" b="30976"/>
          <a:stretch>
            <a:fillRect/>
          </a:stretch>
        </p:blipFill>
        <p:spPr>
          <a:xfrm>
            <a:off x="1624169" y="4754880"/>
            <a:ext cx="1067915" cy="314591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7BAA811-4304-5F40-EFF1-4381B06F0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"/>
            <a:ext cx="16459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57200" y="1691640"/>
            <a:ext cx="11338560" cy="4572000"/>
          </a:xfrm>
          <a:prstGeom prst="rect">
            <a:avLst/>
          </a:prstGeom>
          <a:solidFill>
            <a:schemeClr val="accent3">
              <a:lumMod val="20000"/>
              <a:lumOff val="80000"/>
              <a:alpha val="75000"/>
            </a:schemeClr>
          </a:solidFill>
          <a:ln w="635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8288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Purpose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Build the muscle of understanding a customer’s business pressures, strategic direction, and operating realities — before examining any technology landscape.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What you will do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Work as a team to research your assigned industry and customer.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Apply the role you are assigned to surface a specific lens of insight.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Synthesize findings into a Customer Pressure Brief, Influence Map, and Discovery Pack.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Present back to the room — and earn challenge from peer teams.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Readiness standard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>
                <a:ln>
                  <a:noFill/>
                </a:ln>
                <a:solidFill>
                  <a:srgbClr val="A5644E">
                    <a:lumMod val="50000"/>
                  </a:srgbClr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“What do you know about this customer’s business pressures — not their technology, their business?”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F925B964-A61D-6686-DC0E-D1B49D569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/>
              <a:t>Exercise Overview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5A84F9A-BA53-5AC7-34C3-65523FEFD9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lIns="0"/>
          <a:lstStyle/>
          <a:p>
            <a:r>
              <a:rPr lang="en-US"/>
              <a:t>What this exercise is designed to build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C4F984-7A1F-E620-1B8D-D16FE8015C2B}"/>
              </a:ext>
            </a:extLst>
          </p:cNvPr>
          <p:cNvSpPr txBox="1"/>
          <p:nvPr/>
        </p:nvSpPr>
        <p:spPr>
          <a:xfrm>
            <a:off x="117362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900" b="0" i="0">
                <a:solidFill>
                  <a:srgbClr val="6B6B6B"/>
                </a:solidFill>
                <a:latin typeface="Calibri"/>
              </a:defRPr>
            </a:pPr>
            <a:fld id="{0091C17E-2F65-4C71-87BC-76C5C81EFBFA}" type="slidenum">
              <a:rPr lang="en-US" smtClean="0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456DA4CB-1278-733E-A7FE-F428E729E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/>
              <a:t>Business Pressure Lenses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57A01E65-4AE5-8101-5CE9-08C94107AB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The pressures shaping leadership decisions in pharmaceuticals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3703320" cy="1828800"/>
          </a:xfrm>
          <a:prstGeom prst="rect">
            <a:avLst/>
          </a:prstGeom>
          <a:solidFill>
            <a:schemeClr val="accent3">
              <a:lumMod val="20000"/>
              <a:lumOff val="80000"/>
              <a:alpha val="62000"/>
            </a:schemeClr>
          </a:solidFill>
          <a:ln w="635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0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0B5594"/>
                </a:solidFill>
                <a:latin typeface="Calibri"/>
              </a:defRPr>
            </a:pPr>
            <a:r>
              <a:rPr lang="en-US">
                <a:solidFill>
                  <a:schemeClr val="accent2">
                    <a:lumMod val="50000"/>
                  </a:schemeClr>
                </a:solidFill>
                <a:latin typeface="Segoe Sans Display" pitchFamily="2" charset="0"/>
                <a:cs typeface="Segoe Sans Display" pitchFamily="2" charset="0"/>
              </a:rPr>
              <a:t>R&amp;D productivity + time-to-market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691640"/>
            <a:ext cx="3703320" cy="1828800"/>
          </a:xfrm>
          <a:prstGeom prst="rect">
            <a:avLst/>
          </a:prstGeom>
          <a:solidFill>
            <a:schemeClr val="accent3">
              <a:lumMod val="20000"/>
              <a:lumOff val="80000"/>
              <a:alpha val="62000"/>
            </a:schemeClr>
          </a:solidFill>
          <a:ln w="635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0" rtlCol="0" anchor="ctr"/>
          <a:lstStyle/>
          <a:p>
            <a:pPr algn="ctr">
              <a:spcAft>
                <a:spcPts val="600"/>
              </a:spcAft>
            </a:pPr>
            <a:r>
              <a:rPr lang="en-US" sz="1400" b="1">
                <a:solidFill>
                  <a:schemeClr val="accent2">
                    <a:lumMod val="50000"/>
                  </a:schemeClr>
                </a:solidFill>
                <a:latin typeface="Segoe Sans Display" pitchFamily="2" charset="0"/>
                <a:cs typeface="Segoe Sans Display" pitchFamily="2" charset="0"/>
              </a:rPr>
              <a:t>Quality + deviation/CAPA burden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691640"/>
            <a:ext cx="3703320" cy="1828800"/>
          </a:xfrm>
          <a:prstGeom prst="rect">
            <a:avLst/>
          </a:prstGeom>
          <a:solidFill>
            <a:schemeClr val="accent3">
              <a:lumMod val="20000"/>
              <a:lumOff val="80000"/>
              <a:alpha val="62000"/>
            </a:schemeClr>
          </a:solidFill>
          <a:ln w="635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0" rtlCol="0" anchor="ctr"/>
          <a:lstStyle/>
          <a:p>
            <a:pPr algn="ctr">
              <a:spcAft>
                <a:spcPts val="600"/>
              </a:spcAft>
            </a:pPr>
            <a:r>
              <a:rPr lang="en-US" sz="1400" b="1">
                <a:solidFill>
                  <a:schemeClr val="accent2">
                    <a:lumMod val="50000"/>
                  </a:schemeClr>
                </a:solidFill>
                <a:latin typeface="Segoe Sans Display" pitchFamily="2" charset="0"/>
                <a:cs typeface="Segoe Sans Display" pitchFamily="2" charset="0"/>
              </a:rPr>
              <a:t>Regulatory documentation + auditability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" y="3703320"/>
            <a:ext cx="3703320" cy="1828800"/>
          </a:xfrm>
          <a:prstGeom prst="rect">
            <a:avLst/>
          </a:prstGeom>
          <a:solidFill>
            <a:schemeClr val="accent3">
              <a:lumMod val="20000"/>
              <a:lumOff val="80000"/>
              <a:alpha val="62000"/>
            </a:schemeClr>
          </a:solidFill>
          <a:ln w="635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0" rtlCol="0" anchor="ctr"/>
          <a:lstStyle/>
          <a:p>
            <a:pPr algn="ctr">
              <a:spcAft>
                <a:spcPts val="600"/>
              </a:spcAft>
            </a:pPr>
            <a:r>
              <a:rPr lang="en-US" sz="1400" b="1">
                <a:solidFill>
                  <a:schemeClr val="accent2">
                    <a:lumMod val="50000"/>
                  </a:schemeClr>
                </a:solidFill>
                <a:latin typeface="Segoe Sans Display" pitchFamily="2" charset="0"/>
                <a:cs typeface="Segoe Sans Display" pitchFamily="2" charset="0"/>
              </a:rPr>
              <a:t>Supply resilience (cold chain, shortages)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703320"/>
            <a:ext cx="3703320" cy="1828800"/>
          </a:xfrm>
          <a:prstGeom prst="rect">
            <a:avLst/>
          </a:prstGeom>
          <a:solidFill>
            <a:schemeClr val="accent3">
              <a:lumMod val="20000"/>
              <a:lumOff val="80000"/>
              <a:alpha val="62000"/>
            </a:schemeClr>
          </a:solidFill>
          <a:ln w="635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0" rtlCol="0" anchor="ctr"/>
          <a:lstStyle/>
          <a:p>
            <a:pPr algn="ctr">
              <a:spcAft>
                <a:spcPts val="600"/>
              </a:spcAft>
            </a:pPr>
            <a:r>
              <a:rPr lang="en-US" sz="1400" b="1">
                <a:solidFill>
                  <a:schemeClr val="accent2">
                    <a:lumMod val="50000"/>
                  </a:schemeClr>
                </a:solidFill>
                <a:latin typeface="Segoe Sans Display" pitchFamily="2" charset="0"/>
                <a:cs typeface="Segoe Sans Display" pitchFamily="2" charset="0"/>
              </a:rPr>
              <a:t>Safety surveillance + trust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80000" y="5760720"/>
            <a:ext cx="589295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200" b="0" i="1">
                <a:solidFill>
                  <a:srgbClr val="6B6B6B"/>
                </a:solidFill>
                <a:latin typeface="Calibri"/>
              </a:defRPr>
            </a:pPr>
            <a:r>
              <a:rPr>
                <a:latin typeface="Segoe Sans Display" pitchFamily="2" charset="0"/>
                <a:cs typeface="Segoe Sans Display" pitchFamily="2" charset="0"/>
              </a:rPr>
              <a:t>These are the lenses through which you will analyze the customer. Stay business-first.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D60080-212A-D081-8721-E057EB79872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 l="2585" t="11869" r="64808" b="50773"/>
          <a:stretch>
            <a:fillRect/>
          </a:stretch>
        </p:blipFill>
        <p:spPr>
          <a:xfrm>
            <a:off x="2067849" y="1896650"/>
            <a:ext cx="619182" cy="7093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25525D-48B2-71BA-B30E-A76E828D2A5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l="35959" t="10750" r="31434" b="51892"/>
          <a:stretch>
            <a:fillRect/>
          </a:stretch>
        </p:blipFill>
        <p:spPr>
          <a:xfrm>
            <a:off x="5908329" y="1896650"/>
            <a:ext cx="619182" cy="70939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E126942-09B8-7468-80FD-1333442EBE7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l="67393" t="12642" b="50000"/>
          <a:stretch>
            <a:fillRect/>
          </a:stretch>
        </p:blipFill>
        <p:spPr>
          <a:xfrm>
            <a:off x="9680229" y="1896650"/>
            <a:ext cx="619182" cy="70939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0C3E043-4235-16A7-4CC1-FFD9021A9CA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l="15219" t="50000" r="52174" b="12642"/>
          <a:stretch>
            <a:fillRect/>
          </a:stretch>
        </p:blipFill>
        <p:spPr>
          <a:xfrm>
            <a:off x="3919509" y="3965115"/>
            <a:ext cx="619182" cy="70939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6465351-623D-FA37-1787-038E948994D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l="50000" t="48676" r="17393" b="13966"/>
          <a:stretch>
            <a:fillRect/>
          </a:stretch>
        </p:blipFill>
        <p:spPr>
          <a:xfrm>
            <a:off x="7759989" y="3965115"/>
            <a:ext cx="619182" cy="70939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DBFCAA0-C31B-2DCB-DD5D-20D8F007471D}"/>
              </a:ext>
            </a:extLst>
          </p:cNvPr>
          <p:cNvSpPr txBox="1"/>
          <p:nvPr/>
        </p:nvSpPr>
        <p:spPr>
          <a:xfrm>
            <a:off x="117362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900" b="0" i="0">
                <a:solidFill>
                  <a:srgbClr val="6B6B6B"/>
                </a:solidFill>
                <a:latin typeface="Calibri"/>
              </a:defRPr>
            </a:pPr>
            <a:fld id="{0091C17E-2F65-4C71-87BC-76C5C81EFBFA}" type="slidenum">
              <a:rPr lang="en-US" smtClean="0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5043111"/>
              </p:ext>
            </p:extLst>
          </p:nvPr>
        </p:nvGraphicFramePr>
        <p:xfrm>
          <a:off x="457200" y="1526556"/>
          <a:ext cx="11338560" cy="46634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5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Prompt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</a:rPr>
                        <a:t>Industry Trends Lead</a:t>
                      </a:r>
                      <a:r>
                        <a:rPr lang="en-US" sz="1400" b="1">
                          <a:solidFill>
                            <a:schemeClr val="tx1"/>
                          </a:solidFill>
                        </a:rPr>
                        <a:t> (Andre)</a:t>
                      </a:r>
                      <a:endParaRPr sz="1400" b="1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“Summarize trends in pharma around AI in R&amp;D, clinical operations, pharmacovigilance, manufacturing QA, and regulatory compliance.”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tx1"/>
                          </a:solidFill>
                        </a:rPr>
                        <a:t>Competitor Landscape Lead(Vin)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“How are leading pharma companies using GenAI for trial design, medical writing, quality investigations, and manufacturing documentation while maintaining auditability?”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</a:rPr>
                        <a:t>Company Intelligence Lead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“What AI/digital initiatives, partnerships, or patents does [COMPANY] have related to R&amp;D productivity, manufacturing quality, or supply chain resilience?”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tx1"/>
                          </a:solidFill>
                        </a:rPr>
                        <a:t>Process / Operating Model Lead (Nathaniel)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“How is AI changing batch release, deviations/CAPA, quality documentation, and end-to-end traceability?”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lang="it-IT" sz="1400" b="1">
                          <a:solidFill>
                            <a:schemeClr val="tx1"/>
                          </a:solidFill>
                        </a:rPr>
                        <a:t>C-Suite Strategist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“Map CIO/CTO/CDO/Head of R&amp;D/Head of Quality/Head of Manufacturing/Regulatory. What do they prioritize publicly (speed, compliance, yield, cost, risk)?”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itle 7">
            <a:extLst>
              <a:ext uri="{FF2B5EF4-FFF2-40B4-BE49-F238E27FC236}">
                <a16:creationId xmlns:a16="http://schemas.microsoft.com/office/drawing/2014/main" id="{9A6F99DD-5181-7B84-6B9D-C3751C407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/>
              <a:t>Team Roles &amp; Copilot Prompts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BD55205-3A20-C12A-07A0-FEE0649D27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Each team member owns one lens. Use the prompt as a starting point.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E31C9C-B116-F7E4-AC82-2A8716A0E4B4}"/>
              </a:ext>
            </a:extLst>
          </p:cNvPr>
          <p:cNvSpPr txBox="1"/>
          <p:nvPr/>
        </p:nvSpPr>
        <p:spPr>
          <a:xfrm>
            <a:off x="117362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900" b="0" i="0">
                <a:solidFill>
                  <a:srgbClr val="6B6B6B"/>
                </a:solidFill>
                <a:latin typeface="Calibri"/>
              </a:defRPr>
            </a:pPr>
            <a:fld id="{0091C17E-2F65-4C71-87BC-76C5C81EFBFA}" type="slidenum">
              <a:rPr lang="en-US" smtClean="0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DE1EA-53A4-2E55-5A7B-2972E21C7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48A2193-8718-ECF4-592D-388D17DAAC26}"/>
              </a:ext>
            </a:extLst>
          </p:cNvPr>
          <p:cNvSpPr txBox="1"/>
          <p:nvPr/>
        </p:nvSpPr>
        <p:spPr>
          <a:xfrm>
            <a:off x="117362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900" b="0" i="0">
                <a:solidFill>
                  <a:srgbClr val="6B6B6B"/>
                </a:solidFill>
                <a:latin typeface="Calibri"/>
              </a:defRPr>
            </a:pPr>
            <a:fld id="{0091C17E-2F65-4C71-87BC-76C5C81EFBFA}" type="slidenum">
              <a:rPr lang="en-US" smtClean="0"/>
              <a:t>5</a:t>
            </a:fld>
            <a:endParaRPr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DBD9404-8FFA-367B-73B2-DE17DBEB7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11141565" cy="553998"/>
          </a:xfrm>
        </p:spPr>
        <p:txBody>
          <a:bodyPr/>
          <a:lstStyle/>
          <a:p>
            <a:pPr algn="l"/>
            <a:r>
              <a:rPr lang="en-US"/>
              <a:t>Provocations, Outputs &amp; Time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64ACEB5-5C82-ECF5-186B-4DD36C90D1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What you will produce — and the questions designed to change the room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E5FB49-73ED-7462-1780-4AC645C1C314}"/>
              </a:ext>
            </a:extLst>
          </p:cNvPr>
          <p:cNvSpPr/>
          <p:nvPr/>
        </p:nvSpPr>
        <p:spPr>
          <a:xfrm>
            <a:off x="457200" y="1691640"/>
            <a:ext cx="6766560" cy="4572000"/>
          </a:xfrm>
          <a:prstGeom prst="rect">
            <a:avLst/>
          </a:prstGeom>
          <a:solidFill>
            <a:schemeClr val="accent3">
              <a:lumMod val="20000"/>
              <a:lumOff val="80000"/>
              <a:alpha val="62000"/>
            </a:schemeClr>
          </a:solidFill>
          <a:ln w="635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82880" rtlCol="0" anchor="t"/>
          <a:lstStyle/>
          <a:p>
            <a:pPr>
              <a:spcAft>
                <a:spcPts val="2400"/>
              </a:spcAft>
            </a:pPr>
            <a:r>
              <a:rPr lang="en-US" b="1">
                <a:solidFill>
                  <a:schemeClr val="tx1"/>
                </a:solidFill>
              </a:rPr>
              <a:t>Provocation Starters</a:t>
            </a:r>
          </a:p>
          <a:p>
            <a:pPr>
              <a:spcAft>
                <a:spcPts val="1800"/>
              </a:spcAft>
            </a:pPr>
            <a:r>
              <a:rPr lang="en-US" sz="1400" i="1">
                <a:solidFill>
                  <a:schemeClr val="tx1"/>
                </a:solidFill>
              </a:rPr>
              <a:t>“Where is the organization ‘paper-compliant’ but not ‘process-healthy’?”</a:t>
            </a:r>
          </a:p>
          <a:p>
            <a:pPr>
              <a:spcAft>
                <a:spcPts val="1800"/>
              </a:spcAft>
            </a:pPr>
            <a:r>
              <a:rPr lang="en-US" sz="1400" i="1">
                <a:solidFill>
                  <a:schemeClr val="tx1"/>
                </a:solidFill>
              </a:rPr>
              <a:t>“If regulators demanded explainability proof for every AI-supported decision tomorrow, what would fail?”</a:t>
            </a:r>
          </a:p>
          <a:p>
            <a:pPr>
              <a:spcAft>
                <a:spcPts val="1800"/>
              </a:spcAft>
            </a:pPr>
            <a:r>
              <a:rPr lang="en-US" sz="1400">
                <a:solidFill>
                  <a:schemeClr val="tx1"/>
                </a:solidFill>
              </a:rPr>
              <a:t>Use these as templates. Write more of your own that force tradeoffs and surface uncomfortable truths.</a:t>
            </a:r>
            <a:endParaRPr lang="en-US" sz="1400" b="1">
              <a:solidFill>
                <a:schemeClr val="tx1"/>
              </a:solidFill>
            </a:endParaRPr>
          </a:p>
          <a:p>
            <a:pPr>
              <a:spcAft>
                <a:spcPts val="1200"/>
              </a:spcAft>
            </a:pP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A58C6D-5EE8-7F3C-D384-19367EA7070D}"/>
              </a:ext>
            </a:extLst>
          </p:cNvPr>
          <p:cNvSpPr/>
          <p:nvPr/>
        </p:nvSpPr>
        <p:spPr>
          <a:xfrm>
            <a:off x="7360920" y="1691640"/>
            <a:ext cx="4434840" cy="4572000"/>
          </a:xfrm>
          <a:prstGeom prst="rect">
            <a:avLst/>
          </a:prstGeom>
          <a:solidFill>
            <a:schemeClr val="accent3">
              <a:lumMod val="20000"/>
              <a:lumOff val="80000"/>
              <a:alpha val="62000"/>
            </a:schemeClr>
          </a:solidFill>
          <a:ln w="635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82880" rtlCol="0" anchor="t"/>
          <a:lstStyle/>
          <a:p>
            <a:pPr>
              <a:spcAft>
                <a:spcPts val="1200"/>
              </a:spcAft>
            </a:pPr>
            <a:r>
              <a:rPr lang="en-US" b="1">
                <a:solidFill>
                  <a:schemeClr val="tx1"/>
                </a:solidFill>
              </a:rPr>
              <a:t>Required Outputs</a:t>
            </a:r>
          </a:p>
          <a:p>
            <a:pPr marL="342900" indent="-342900">
              <a:spcAft>
                <a:spcPts val="1200"/>
              </a:spcAft>
              <a:buFont typeface="+mj-lt"/>
              <a:buAutoNum type="alphaUcPeriod"/>
            </a:pPr>
            <a:r>
              <a:rPr lang="en-US" sz="1400">
                <a:solidFill>
                  <a:schemeClr val="tx1"/>
                </a:solidFill>
              </a:rPr>
              <a:t>Customer Pressure Brief (1 page)</a:t>
            </a:r>
          </a:p>
          <a:p>
            <a:pPr marL="342900" indent="-342900">
              <a:spcAft>
                <a:spcPts val="1200"/>
              </a:spcAft>
              <a:buFont typeface="+mj-lt"/>
              <a:buAutoNum type="alphaUcPeriod"/>
            </a:pPr>
            <a:r>
              <a:rPr lang="en-US" sz="1400">
                <a:solidFill>
                  <a:schemeClr val="tx1"/>
                </a:solidFill>
              </a:rPr>
              <a:t>C-Suite Influence Map (visual)</a:t>
            </a:r>
          </a:p>
          <a:p>
            <a:pPr marL="342900" indent="-342900">
              <a:spcAft>
                <a:spcPts val="1200"/>
              </a:spcAft>
              <a:buFont typeface="+mj-lt"/>
              <a:buAutoNum type="alphaUcPeriod"/>
            </a:pPr>
            <a:r>
              <a:rPr lang="en-US" sz="1400">
                <a:solidFill>
                  <a:schemeClr val="tx1"/>
                </a:solidFill>
              </a:rPr>
              <a:t>Bold Discovery Pack (provocations + 7–10 questions)</a:t>
            </a:r>
          </a:p>
          <a:p>
            <a:pPr>
              <a:spcAft>
                <a:spcPts val="1200"/>
              </a:spcAft>
            </a:pPr>
            <a:endParaRPr lang="en-US" sz="1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7508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2DB49-87B9-F2BC-AC91-D0711037F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DEFBEB3-CAEA-FAFB-646A-AD2CA570D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11141565" cy="553998"/>
          </a:xfrm>
        </p:spPr>
        <p:txBody>
          <a:bodyPr/>
          <a:lstStyle/>
          <a:p>
            <a:pPr algn="l"/>
            <a:r>
              <a:rPr lang="en-US"/>
              <a:t>Worksheet  |  Header &amp; Readiness Standard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ADC358-05DC-BE58-0D25-DBFD10944E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What Business pressures first. Do not research technology until Sections A–C are complete.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8D7660D-6120-DFEB-AA06-59BE97E504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9926548"/>
              </p:ext>
            </p:extLst>
          </p:nvPr>
        </p:nvGraphicFramePr>
        <p:xfrm>
          <a:off x="457200" y="1691640"/>
          <a:ext cx="11338560" cy="1828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52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chemeClr val="bg1"/>
                          </a:solidFill>
                        </a:rPr>
                        <a:t>Customer / Company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Merck</a:t>
                      </a:r>
                      <a:endParaRPr sz="240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chemeClr val="bg1"/>
                          </a:solidFill>
                        </a:rPr>
                        <a:t>Industry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1F1F1F"/>
                          </a:solidFill>
                        </a:rPr>
                        <a:t>Pharmaceuticals</a:t>
                      </a:r>
                      <a:endParaRPr sz="1600">
                        <a:solidFill>
                          <a:srgbClr val="1F1F1F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chemeClr val="bg1"/>
                          </a:solidFill>
                        </a:rPr>
                        <a:t>Team Members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Andre Idalgo Rodrigues, Vincenzo Morra, Nathaniel Silva Emmanuelli, Rajesh Singh, Heather Audet</a:t>
                      </a:r>
                      <a:endParaRPr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chemeClr val="bg1"/>
                          </a:solidFill>
                        </a:rPr>
                        <a:t>Date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June 24, 2026</a:t>
                      </a:r>
                      <a:endParaRPr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43881196-56A9-C974-B26B-C81418AD74E3}"/>
              </a:ext>
            </a:extLst>
          </p:cNvPr>
          <p:cNvSpPr/>
          <p:nvPr/>
        </p:nvSpPr>
        <p:spPr>
          <a:xfrm>
            <a:off x="457200" y="3931920"/>
            <a:ext cx="11338560" cy="2194560"/>
          </a:xfrm>
          <a:prstGeom prst="rect">
            <a:avLst/>
          </a:prstGeom>
          <a:solidFill>
            <a:schemeClr val="accent3">
              <a:lumMod val="20000"/>
              <a:lumOff val="80000"/>
              <a:alpha val="75000"/>
            </a:schemeClr>
          </a:solidFill>
          <a:ln w="635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82880" rtlCol="0" anchor="t"/>
          <a:lstStyle/>
          <a:p>
            <a:pPr>
              <a:spcAft>
                <a:spcPts val="2400"/>
              </a:spcAft>
            </a:pPr>
            <a:r>
              <a:rPr lang="en-US" b="1">
                <a:solidFill>
                  <a:schemeClr val="tx1"/>
                </a:solidFill>
              </a:rPr>
              <a:t>Readiness Standard  |  60-second test</a:t>
            </a:r>
          </a:p>
          <a:p>
            <a:pPr>
              <a:spcAft>
                <a:spcPts val="2400"/>
              </a:spcAft>
            </a:pPr>
            <a:r>
              <a:rPr lang="en-US">
                <a:solidFill>
                  <a:schemeClr val="tx1"/>
                </a:solidFill>
              </a:rPr>
              <a:t>“What do you know about this customer’s business pressures — not their technology, their business?”</a:t>
            </a:r>
          </a:p>
          <a:p>
            <a:pPr>
              <a:spcAft>
                <a:spcPts val="2400"/>
              </a:spcAft>
            </a:pPr>
            <a:r>
              <a:rPr lang="en-US" sz="1200" i="1">
                <a:solidFill>
                  <a:schemeClr val="tx1"/>
                </a:solidFill>
              </a:rPr>
              <a:t>If you cannot answer this in 60 seconds without mentioning a product, you are not yet ready.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C39D25-1A5A-96F6-535A-AE24CB346EA9}"/>
              </a:ext>
            </a:extLst>
          </p:cNvPr>
          <p:cNvSpPr txBox="1"/>
          <p:nvPr/>
        </p:nvSpPr>
        <p:spPr>
          <a:xfrm>
            <a:off x="117362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900" b="0" i="0">
                <a:solidFill>
                  <a:srgbClr val="6B6B6B"/>
                </a:solidFill>
                <a:latin typeface="Calibri"/>
              </a:defRPr>
            </a:pPr>
            <a:fld id="{0091C17E-2F65-4C71-87BC-76C5C81EFBFA}" type="slidenum">
              <a:rPr lang="en-US" smtClean="0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3808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DE19E-A67C-C9E1-9134-A2D1E254A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Benefit Dependency Canvas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72B03D-11B5-8808-A139-F631F750367E}"/>
              </a:ext>
            </a:extLst>
          </p:cNvPr>
          <p:cNvSpPr txBox="1"/>
          <p:nvPr/>
        </p:nvSpPr>
        <p:spPr>
          <a:xfrm>
            <a:off x="285072" y="799649"/>
            <a:ext cx="12746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Digital Enablers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DAB457-C31F-22FF-D4AD-032B93876A69}"/>
              </a:ext>
            </a:extLst>
          </p:cNvPr>
          <p:cNvSpPr txBox="1"/>
          <p:nvPr/>
        </p:nvSpPr>
        <p:spPr>
          <a:xfrm>
            <a:off x="2458811" y="799649"/>
            <a:ext cx="14300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Enabling Changes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002064-E936-C70C-B36C-4F3409C07F86}"/>
              </a:ext>
            </a:extLst>
          </p:cNvPr>
          <p:cNvSpPr txBox="1"/>
          <p:nvPr/>
        </p:nvSpPr>
        <p:spPr>
          <a:xfrm>
            <a:off x="4503964" y="799649"/>
            <a:ext cx="14300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Business Changes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5B4301-B58C-E74F-8BD1-A4737DC4CE55}"/>
              </a:ext>
            </a:extLst>
          </p:cNvPr>
          <p:cNvSpPr txBox="1"/>
          <p:nvPr/>
        </p:nvSpPr>
        <p:spPr>
          <a:xfrm>
            <a:off x="6549116" y="799649"/>
            <a:ext cx="13283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Business Benefits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F7B942-AB8D-87E9-F2DB-BCDCC06FC2FF}"/>
              </a:ext>
            </a:extLst>
          </p:cNvPr>
          <p:cNvSpPr txBox="1"/>
          <p:nvPr/>
        </p:nvSpPr>
        <p:spPr>
          <a:xfrm>
            <a:off x="9031045" y="799649"/>
            <a:ext cx="16942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/>
              <a:t>Investment Objectives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9996FF-BD7C-3992-9D27-FE65D85E86BF}"/>
              </a:ext>
            </a:extLst>
          </p:cNvPr>
          <p:cNvSpPr txBox="1"/>
          <p:nvPr/>
        </p:nvSpPr>
        <p:spPr>
          <a:xfrm>
            <a:off x="11161827" y="799649"/>
            <a:ext cx="7921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/>
              <a:t>Drives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DAA4EA7-B88E-B462-7144-EF141104ECA7}"/>
              </a:ext>
            </a:extLst>
          </p:cNvPr>
          <p:cNvSpPr/>
          <p:nvPr/>
        </p:nvSpPr>
        <p:spPr>
          <a:xfrm>
            <a:off x="285072" y="1082343"/>
            <a:ext cx="1984281" cy="898264"/>
          </a:xfrm>
          <a:prstGeom prst="ellipse">
            <a:avLst/>
          </a:prstGeom>
          <a:solidFill>
            <a:schemeClr val="bg1"/>
          </a:solidFill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900">
                <a:solidFill>
                  <a:srgbClr val="202020"/>
                </a:solidFill>
              </a:rPr>
              <a:t>Gen-AI drug design (Gemini Enterprise)</a:t>
            </a:r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35CF932-8B9B-3365-E0B2-BE1859C18F37}"/>
              </a:ext>
            </a:extLst>
          </p:cNvPr>
          <p:cNvSpPr/>
          <p:nvPr/>
        </p:nvSpPr>
        <p:spPr>
          <a:xfrm>
            <a:off x="285072" y="2045300"/>
            <a:ext cx="1984281" cy="898264"/>
          </a:xfrm>
          <a:prstGeom prst="ellipse">
            <a:avLst/>
          </a:prstGeom>
          <a:solidFill>
            <a:schemeClr val="bg1"/>
          </a:solidFill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900">
                <a:solidFill>
                  <a:srgbClr val="202020"/>
                </a:solidFill>
              </a:rPr>
              <a:t>Gen-AI deviation knowledge base; vision inspection</a:t>
            </a:r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1B460A1-9C86-F7CF-06DE-6B7D246E3165}"/>
              </a:ext>
            </a:extLst>
          </p:cNvPr>
          <p:cNvSpPr/>
          <p:nvPr/>
        </p:nvSpPr>
        <p:spPr>
          <a:xfrm>
            <a:off x="285072" y="3008257"/>
            <a:ext cx="1984281" cy="898264"/>
          </a:xfrm>
          <a:prstGeom prst="ellipse">
            <a:avLst/>
          </a:prstGeom>
          <a:solidFill>
            <a:schemeClr val="bg1"/>
          </a:solidFill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900">
                <a:solidFill>
                  <a:srgbClr val="202020"/>
                </a:solidFill>
              </a:rPr>
              <a:t>AI risk-sensing &amp; demand analytics</a:t>
            </a:r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391B53B-34AC-CF0A-D2AD-826F6378CC15}"/>
              </a:ext>
            </a:extLst>
          </p:cNvPr>
          <p:cNvSpPr/>
          <p:nvPr/>
        </p:nvSpPr>
        <p:spPr>
          <a:xfrm>
            <a:off x="285072" y="3971214"/>
            <a:ext cx="1984281" cy="898264"/>
          </a:xfrm>
          <a:prstGeom prst="ellipse">
            <a:avLst/>
          </a:prstGeom>
          <a:solidFill>
            <a:schemeClr val="bg1"/>
          </a:solidFill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900">
                <a:solidFill>
                  <a:srgbClr val="202020"/>
                </a:solidFill>
              </a:rPr>
              <a:t>Gen-AI clinical-report (CSR) authoring</a:t>
            </a:r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151ADBD-8CAC-1048-0901-0155361C220A}"/>
              </a:ext>
            </a:extLst>
          </p:cNvPr>
          <p:cNvSpPr/>
          <p:nvPr/>
        </p:nvSpPr>
        <p:spPr>
          <a:xfrm>
            <a:off x="285072" y="4934170"/>
            <a:ext cx="1984281" cy="898264"/>
          </a:xfrm>
          <a:prstGeom prst="ellipse">
            <a:avLst/>
          </a:prstGeom>
          <a:solidFill>
            <a:schemeClr val="bg1"/>
          </a:solidFill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900">
                <a:solidFill>
                  <a:srgbClr val="202020"/>
                </a:solidFill>
              </a:rPr>
              <a:t>Google Cloud Gemini Enterprise platform</a:t>
            </a:r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7F83138-B8F4-EB14-DB6C-FB7856C8972A}"/>
              </a:ext>
            </a:extLst>
          </p:cNvPr>
          <p:cNvSpPr/>
          <p:nvPr/>
        </p:nvSpPr>
        <p:spPr>
          <a:xfrm>
            <a:off x="2458811" y="1130150"/>
            <a:ext cx="1855695" cy="802650"/>
          </a:xfrm>
          <a:prstGeom prst="rect">
            <a:avLst/>
          </a:prstGeom>
          <a:solidFill>
            <a:schemeClr val="bg1"/>
          </a:solidFill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900">
                <a:solidFill>
                  <a:srgbClr val="202020"/>
                </a:solidFill>
              </a:rPr>
              <a:t>Scientists adopt AI in discovery</a:t>
            </a:r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55528C9-926D-9346-5B01-410A2F3C62C9}"/>
              </a:ext>
            </a:extLst>
          </p:cNvPr>
          <p:cNvSpPr/>
          <p:nvPr/>
        </p:nvSpPr>
        <p:spPr>
          <a:xfrm>
            <a:off x="2458811" y="2105058"/>
            <a:ext cx="1855695" cy="802650"/>
          </a:xfrm>
          <a:prstGeom prst="rect">
            <a:avLst/>
          </a:prstGeom>
          <a:solidFill>
            <a:schemeClr val="bg1"/>
          </a:solidFill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900">
                <a:solidFill>
                  <a:srgbClr val="202020"/>
                </a:solidFill>
              </a:rPr>
              <a:t>Quality teams act on AI insights</a:t>
            </a:r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7F90945-F76A-FED8-878E-B5411E6B96EA}"/>
              </a:ext>
            </a:extLst>
          </p:cNvPr>
          <p:cNvSpPr/>
          <p:nvPr/>
        </p:nvSpPr>
        <p:spPr>
          <a:xfrm>
            <a:off x="2458811" y="3079966"/>
            <a:ext cx="1855695" cy="802650"/>
          </a:xfrm>
          <a:prstGeom prst="rect">
            <a:avLst/>
          </a:prstGeom>
          <a:solidFill>
            <a:schemeClr val="bg1"/>
          </a:solidFill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900">
                <a:solidFill>
                  <a:srgbClr val="202020"/>
                </a:solidFill>
              </a:rPr>
              <a:t>Planners act on real-time signals</a:t>
            </a:r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67B25AC-9CC4-2422-BB90-E83600E66E3A}"/>
              </a:ext>
            </a:extLst>
          </p:cNvPr>
          <p:cNvSpPr/>
          <p:nvPr/>
        </p:nvSpPr>
        <p:spPr>
          <a:xfrm>
            <a:off x="2458811" y="4054874"/>
            <a:ext cx="1855695" cy="802650"/>
          </a:xfrm>
          <a:prstGeom prst="rect">
            <a:avLst/>
          </a:prstGeom>
          <a:solidFill>
            <a:schemeClr val="bg1"/>
          </a:solidFill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900">
                <a:solidFill>
                  <a:srgbClr val="202020"/>
                </a:solidFill>
              </a:rPr>
              <a:t>Medical writers &amp; QA adopt AI drafts</a:t>
            </a:r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B723648-24A8-FCAC-A3AC-6C15FDB8C2A8}"/>
              </a:ext>
            </a:extLst>
          </p:cNvPr>
          <p:cNvSpPr/>
          <p:nvPr/>
        </p:nvSpPr>
        <p:spPr>
          <a:xfrm>
            <a:off x="2458811" y="5029784"/>
            <a:ext cx="1855695" cy="802650"/>
          </a:xfrm>
          <a:prstGeom prst="rect">
            <a:avLst/>
          </a:prstGeom>
          <a:solidFill>
            <a:schemeClr val="bg1"/>
          </a:solidFill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900">
                <a:solidFill>
                  <a:srgbClr val="202020"/>
                </a:solidFill>
              </a:rPr>
              <a:t>Governance, data &amp; skills in place</a:t>
            </a:r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DBA0891-9997-B964-CBB1-BD240336775A}"/>
              </a:ext>
            </a:extLst>
          </p:cNvPr>
          <p:cNvSpPr/>
          <p:nvPr/>
        </p:nvSpPr>
        <p:spPr>
          <a:xfrm>
            <a:off x="4503964" y="1146286"/>
            <a:ext cx="1855695" cy="8026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900">
                <a:solidFill>
                  <a:srgbClr val="202020"/>
                </a:solidFill>
              </a:rPr>
              <a:t>AI-guided target &amp; molecule selection</a:t>
            </a:r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1B4FD54-B825-9416-80D9-BE266AE91F2D}"/>
              </a:ext>
            </a:extLst>
          </p:cNvPr>
          <p:cNvSpPr/>
          <p:nvPr/>
        </p:nvSpPr>
        <p:spPr>
          <a:xfrm>
            <a:off x="4503964" y="2121194"/>
            <a:ext cx="1855695" cy="8026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900">
                <a:solidFill>
                  <a:srgbClr val="202020"/>
                </a:solidFill>
              </a:rPr>
              <a:t>Predictive quality; faster deviation closure</a:t>
            </a:r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1AF7B74-1FDC-B231-CDA9-CD74210918C0}"/>
              </a:ext>
            </a:extLst>
          </p:cNvPr>
          <p:cNvSpPr/>
          <p:nvPr/>
        </p:nvSpPr>
        <p:spPr>
          <a:xfrm>
            <a:off x="4503964" y="3096102"/>
            <a:ext cx="1855695" cy="8026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900">
                <a:solidFill>
                  <a:srgbClr val="202020"/>
                </a:solidFill>
              </a:rPr>
              <a:t>Proactive risk-sensing &amp; response</a:t>
            </a:r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3F0A8A5-8BF5-E360-5F23-A1CD5B4BA691}"/>
              </a:ext>
            </a:extLst>
          </p:cNvPr>
          <p:cNvSpPr/>
          <p:nvPr/>
        </p:nvSpPr>
        <p:spPr>
          <a:xfrm>
            <a:off x="4503964" y="4071010"/>
            <a:ext cx="1855695" cy="8026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900">
                <a:solidFill>
                  <a:srgbClr val="202020"/>
                </a:solidFill>
              </a:rPr>
              <a:t>Automated trial documentation</a:t>
            </a:r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4AAE033-EEB1-72A1-12C3-817AEFC5CAE9}"/>
              </a:ext>
            </a:extLst>
          </p:cNvPr>
          <p:cNvSpPr/>
          <p:nvPr/>
        </p:nvSpPr>
        <p:spPr>
          <a:xfrm>
            <a:off x="4503964" y="5045920"/>
            <a:ext cx="1855695" cy="8026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900">
                <a:solidFill>
                  <a:srgbClr val="202020"/>
                </a:solidFill>
              </a:rPr>
              <a:t>Agentic AI in daily operations</a:t>
            </a:r>
            <a:endParaRPr lang="en-US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D4072711-A20B-D552-B1D3-BF75D7837726}"/>
              </a:ext>
            </a:extLst>
          </p:cNvPr>
          <p:cNvSpPr/>
          <p:nvPr/>
        </p:nvSpPr>
        <p:spPr>
          <a:xfrm>
            <a:off x="6549117" y="1130150"/>
            <a:ext cx="1855695" cy="80265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900">
                <a:solidFill>
                  <a:srgbClr val="202020"/>
                </a:solidFill>
              </a:rPr>
              <a:t>Shorter discovery cycles</a:t>
            </a:r>
            <a:endParaRPr lang="en-US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0D096605-E69D-3BDD-E7CE-FF2A05C43645}"/>
              </a:ext>
            </a:extLst>
          </p:cNvPr>
          <p:cNvSpPr/>
          <p:nvPr/>
        </p:nvSpPr>
        <p:spPr>
          <a:xfrm>
            <a:off x="6549117" y="2105058"/>
            <a:ext cx="1855695" cy="80265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900">
                <a:solidFill>
                  <a:srgbClr val="202020"/>
                </a:solidFill>
              </a:rPr>
              <a:t>Fewer deviations; faster release</a:t>
            </a:r>
            <a:endParaRPr lang="en-US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845ADB19-EB11-C08C-0B51-BC4274E2614A}"/>
              </a:ext>
            </a:extLst>
          </p:cNvPr>
          <p:cNvSpPr/>
          <p:nvPr/>
        </p:nvSpPr>
        <p:spPr>
          <a:xfrm>
            <a:off x="6549117" y="3079966"/>
            <a:ext cx="1855695" cy="80265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900">
                <a:solidFill>
                  <a:srgbClr val="202020"/>
                </a:solidFill>
              </a:rPr>
              <a:t>Fewer shortages; lower buffer cost</a:t>
            </a:r>
            <a:endParaRPr lang="en-US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C94C3F1E-5659-94F0-4647-3CD66E3E88B1}"/>
              </a:ext>
            </a:extLst>
          </p:cNvPr>
          <p:cNvSpPr/>
          <p:nvPr/>
        </p:nvSpPr>
        <p:spPr>
          <a:xfrm>
            <a:off x="6549117" y="4054874"/>
            <a:ext cx="1855695" cy="80265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900">
                <a:solidFill>
                  <a:srgbClr val="202020"/>
                </a:solidFill>
              </a:rPr>
              <a:t>Faster submissions; fewer errors</a:t>
            </a:r>
            <a:endParaRPr lang="en-US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68CEB4D4-9D8C-6C2E-FD8A-39CD0A689CC7}"/>
              </a:ext>
            </a:extLst>
          </p:cNvPr>
          <p:cNvSpPr/>
          <p:nvPr/>
        </p:nvSpPr>
        <p:spPr>
          <a:xfrm>
            <a:off x="6549117" y="5029784"/>
            <a:ext cx="1855695" cy="80265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900">
                <a:solidFill>
                  <a:srgbClr val="202020"/>
                </a:solidFill>
              </a:rPr>
              <a:t>Productivity across 70k+ staff</a:t>
            </a:r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770B4AA8-E227-1CF2-F823-41FE74467EE7}"/>
              </a:ext>
            </a:extLst>
          </p:cNvPr>
          <p:cNvSpPr/>
          <p:nvPr/>
        </p:nvSpPr>
        <p:spPr>
          <a:xfrm>
            <a:off x="8741048" y="1082343"/>
            <a:ext cx="1984281" cy="898264"/>
          </a:xfrm>
          <a:prstGeom prst="ellipse">
            <a:avLst/>
          </a:prstGeom>
          <a:solidFill>
            <a:schemeClr val="bg1"/>
          </a:solidFill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900">
                <a:solidFill>
                  <a:srgbClr val="202020"/>
                </a:solidFill>
              </a:rPr>
              <a:t>Refill pipeline before 2028</a:t>
            </a:r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EC6A6E1B-F432-8B37-D286-A18F034E9FAB}"/>
              </a:ext>
            </a:extLst>
          </p:cNvPr>
          <p:cNvSpPr/>
          <p:nvPr/>
        </p:nvSpPr>
        <p:spPr>
          <a:xfrm>
            <a:off x="8741048" y="2045300"/>
            <a:ext cx="1984281" cy="898264"/>
          </a:xfrm>
          <a:prstGeom prst="ellipse">
            <a:avLst/>
          </a:prstGeom>
          <a:solidFill>
            <a:schemeClr val="bg1"/>
          </a:solidFill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900">
                <a:solidFill>
                  <a:srgbClr val="202020"/>
                </a:solidFill>
              </a:rPr>
              <a:t>Right-first-time production</a:t>
            </a:r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ABCE0F1A-1EB0-A986-C4AD-812851E6E93A}"/>
              </a:ext>
            </a:extLst>
          </p:cNvPr>
          <p:cNvSpPr/>
          <p:nvPr/>
        </p:nvSpPr>
        <p:spPr>
          <a:xfrm>
            <a:off x="8741048" y="3008257"/>
            <a:ext cx="1984281" cy="898264"/>
          </a:xfrm>
          <a:prstGeom prst="ellipse">
            <a:avLst/>
          </a:prstGeom>
          <a:solidFill>
            <a:schemeClr val="bg1"/>
          </a:solidFill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900">
                <a:solidFill>
                  <a:srgbClr val="202020"/>
                </a:solidFill>
              </a:rPr>
              <a:t>Resilient, reliable supply</a:t>
            </a:r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CB9A0B84-2EB4-E11E-961E-3656E03D466B}"/>
              </a:ext>
            </a:extLst>
          </p:cNvPr>
          <p:cNvSpPr/>
          <p:nvPr/>
        </p:nvSpPr>
        <p:spPr>
          <a:xfrm>
            <a:off x="8741048" y="3971214"/>
            <a:ext cx="1984281" cy="898264"/>
          </a:xfrm>
          <a:prstGeom prst="ellipse">
            <a:avLst/>
          </a:prstGeom>
          <a:solidFill>
            <a:schemeClr val="bg1"/>
          </a:solidFill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900">
                <a:solidFill>
                  <a:srgbClr val="202020"/>
                </a:solidFill>
              </a:rPr>
              <a:t>Lower cost-to-submit</a:t>
            </a:r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6D156BFE-D813-6364-8BA7-F4E5B0CBA27C}"/>
              </a:ext>
            </a:extLst>
          </p:cNvPr>
          <p:cNvSpPr/>
          <p:nvPr/>
        </p:nvSpPr>
        <p:spPr>
          <a:xfrm>
            <a:off x="8741048" y="4934170"/>
            <a:ext cx="1984281" cy="898264"/>
          </a:xfrm>
          <a:prstGeom prst="ellipse">
            <a:avLst/>
          </a:prstGeom>
          <a:solidFill>
            <a:schemeClr val="bg1"/>
          </a:solidFill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900">
                <a:solidFill>
                  <a:srgbClr val="202020"/>
                </a:solidFill>
              </a:rPr>
              <a:t>Scale AI beyond pilots</a:t>
            </a:r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CB099433-3A1E-A174-01B9-A3C830685B9F}"/>
              </a:ext>
            </a:extLst>
          </p:cNvPr>
          <p:cNvSpPr/>
          <p:nvPr/>
        </p:nvSpPr>
        <p:spPr>
          <a:xfrm>
            <a:off x="11039598" y="1082343"/>
            <a:ext cx="914400" cy="898264"/>
          </a:xfrm>
          <a:prstGeom prst="ellipse">
            <a:avLst/>
          </a:prstGeom>
          <a:solidFill>
            <a:schemeClr val="bg1"/>
          </a:solidFill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800">
                <a:solidFill>
                  <a:srgbClr val="202020"/>
                </a:solidFill>
              </a:rPr>
              <a:t>Patent cliff</a:t>
            </a:r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8611C332-6EF4-6254-6DF2-7666A24A90B8}"/>
              </a:ext>
            </a:extLst>
          </p:cNvPr>
          <p:cNvSpPr/>
          <p:nvPr/>
        </p:nvSpPr>
        <p:spPr>
          <a:xfrm>
            <a:off x="11039598" y="2045300"/>
            <a:ext cx="914400" cy="898264"/>
          </a:xfrm>
          <a:prstGeom prst="ellipse">
            <a:avLst/>
          </a:prstGeom>
          <a:solidFill>
            <a:schemeClr val="bg1"/>
          </a:solidFill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800">
                <a:solidFill>
                  <a:srgbClr val="202020"/>
                </a:solidFill>
              </a:rPr>
              <a:t>Quality &amp; GMP scrutiny</a:t>
            </a:r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BB5223FC-DAF8-9BA8-9D47-207B7DFC9C81}"/>
              </a:ext>
            </a:extLst>
          </p:cNvPr>
          <p:cNvSpPr/>
          <p:nvPr/>
        </p:nvSpPr>
        <p:spPr>
          <a:xfrm>
            <a:off x="11039598" y="3008257"/>
            <a:ext cx="914400" cy="898264"/>
          </a:xfrm>
          <a:prstGeom prst="ellipse">
            <a:avLst/>
          </a:prstGeom>
          <a:solidFill>
            <a:schemeClr val="bg1"/>
          </a:solidFill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800">
                <a:solidFill>
                  <a:srgbClr val="202020"/>
                </a:solidFill>
              </a:rPr>
              <a:t>Supply shocks</a:t>
            </a:r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872C3C51-65B4-BB88-7E4B-343EAFC8FFB6}"/>
              </a:ext>
            </a:extLst>
          </p:cNvPr>
          <p:cNvSpPr/>
          <p:nvPr/>
        </p:nvSpPr>
        <p:spPr>
          <a:xfrm>
            <a:off x="11039598" y="3971214"/>
            <a:ext cx="914400" cy="898264"/>
          </a:xfrm>
          <a:prstGeom prst="ellipse">
            <a:avLst/>
          </a:prstGeom>
          <a:solidFill>
            <a:schemeClr val="bg1"/>
          </a:solidFill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800">
                <a:solidFill>
                  <a:srgbClr val="202020"/>
                </a:solidFill>
              </a:rPr>
              <a:t>Cost discipline</a:t>
            </a:r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49A3313F-406F-4E27-CB39-2C0F242B6FF7}"/>
              </a:ext>
            </a:extLst>
          </p:cNvPr>
          <p:cNvSpPr/>
          <p:nvPr/>
        </p:nvSpPr>
        <p:spPr>
          <a:xfrm>
            <a:off x="11039598" y="4934170"/>
            <a:ext cx="914400" cy="898264"/>
          </a:xfrm>
          <a:prstGeom prst="ellipse">
            <a:avLst/>
          </a:prstGeom>
          <a:solidFill>
            <a:schemeClr val="bg1"/>
          </a:solidFill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800">
                <a:solidFill>
                  <a:srgbClr val="202020"/>
                </a:solidFill>
              </a:rPr>
              <a:t>AI-native rivals</a:t>
            </a:r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EF7605F-7A16-E205-198A-3C8F648B45BC}"/>
              </a:ext>
            </a:extLst>
          </p:cNvPr>
          <p:cNvSpPr txBox="1"/>
          <p:nvPr/>
        </p:nvSpPr>
        <p:spPr>
          <a:xfrm>
            <a:off x="285071" y="5918643"/>
            <a:ext cx="1984281" cy="466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900"/>
              <a:t>Digital enablers that are required to realize the benefits and enable the changes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D199AA8-BF2B-F5C4-2B88-BD7B7C12BAA3}"/>
              </a:ext>
            </a:extLst>
          </p:cNvPr>
          <p:cNvSpPr txBox="1"/>
          <p:nvPr/>
        </p:nvSpPr>
        <p:spPr>
          <a:xfrm>
            <a:off x="2394517" y="5918643"/>
            <a:ext cx="1984281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900"/>
              <a:t>Changes that are prerequisites for achieving the business changes or that are essential to bring the system into effective operation within the organization.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FB4DCA7-D573-CA9A-5EF4-387F5CA3688D}"/>
              </a:ext>
            </a:extLst>
          </p:cNvPr>
          <p:cNvSpPr txBox="1"/>
          <p:nvPr/>
        </p:nvSpPr>
        <p:spPr>
          <a:xfrm>
            <a:off x="4378798" y="5918642"/>
            <a:ext cx="1984281" cy="466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900"/>
              <a:t>The new way of working that are required to ensure that the desired benefits are realized.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66F3082-5768-E742-2BCF-29EC34680042}"/>
              </a:ext>
            </a:extLst>
          </p:cNvPr>
          <p:cNvSpPr txBox="1"/>
          <p:nvPr/>
        </p:nvSpPr>
        <p:spPr>
          <a:xfrm>
            <a:off x="6488244" y="5918642"/>
            <a:ext cx="1984281" cy="466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900"/>
              <a:t>‘An advantage on behalf of…’ an individual stakeholder or stakeholder group.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8CDBB48-40C8-8EFD-E42C-17A4ED7D3AE6}"/>
              </a:ext>
            </a:extLst>
          </p:cNvPr>
          <p:cNvSpPr txBox="1"/>
          <p:nvPr/>
        </p:nvSpPr>
        <p:spPr>
          <a:xfrm>
            <a:off x="8741049" y="5918643"/>
            <a:ext cx="1767928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900"/>
              <a:t>Organizational target for achievement agreed for the project in relation to the drives and envisaged changes.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1BB8711-D435-C43F-E5C6-EF3FAF1691E6}"/>
              </a:ext>
            </a:extLst>
          </p:cNvPr>
          <p:cNvSpPr txBox="1"/>
          <p:nvPr/>
        </p:nvSpPr>
        <p:spPr>
          <a:xfrm>
            <a:off x="10585174" y="5918643"/>
            <a:ext cx="1606826" cy="715581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900"/>
              <a:t>A view held by senior manager)s) about what is important in the business over a given timescale – such that changes must occur.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5307D7F5-C2A8-FA54-2C7F-61B1E5B89A2E}"/>
              </a:ext>
            </a:extLst>
          </p:cNvPr>
          <p:cNvCxnSpPr>
            <a:cxnSpLocks/>
          </p:cNvCxnSpPr>
          <p:nvPr/>
        </p:nvCxnSpPr>
        <p:spPr>
          <a:xfrm>
            <a:off x="1510747" y="949187"/>
            <a:ext cx="571500" cy="0"/>
          </a:xfrm>
          <a:prstGeom prst="straightConnector1">
            <a:avLst/>
          </a:prstGeom>
          <a:ln>
            <a:tailEnd type="triangle" w="lg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73D5ECE4-0073-E54D-021B-B39DF6FD46FE}"/>
              </a:ext>
            </a:extLst>
          </p:cNvPr>
          <p:cNvCxnSpPr>
            <a:cxnSpLocks/>
          </p:cNvCxnSpPr>
          <p:nvPr/>
        </p:nvCxnSpPr>
        <p:spPr>
          <a:xfrm>
            <a:off x="3807298" y="947531"/>
            <a:ext cx="571500" cy="0"/>
          </a:xfrm>
          <a:prstGeom prst="straightConnector1">
            <a:avLst/>
          </a:prstGeom>
          <a:ln>
            <a:tailEnd type="triangle" w="lg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12155FAA-463E-A7F1-0A59-6CA09F0AC0C6}"/>
              </a:ext>
            </a:extLst>
          </p:cNvPr>
          <p:cNvCxnSpPr>
            <a:cxnSpLocks/>
          </p:cNvCxnSpPr>
          <p:nvPr/>
        </p:nvCxnSpPr>
        <p:spPr>
          <a:xfrm>
            <a:off x="5810250" y="947531"/>
            <a:ext cx="571500" cy="0"/>
          </a:xfrm>
          <a:prstGeom prst="straightConnector1">
            <a:avLst/>
          </a:prstGeom>
          <a:ln>
            <a:tailEnd type="triangle" w="lg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22AF1241-29BD-87F1-9251-158567C12314}"/>
              </a:ext>
            </a:extLst>
          </p:cNvPr>
          <p:cNvCxnSpPr>
            <a:cxnSpLocks/>
          </p:cNvCxnSpPr>
          <p:nvPr/>
        </p:nvCxnSpPr>
        <p:spPr>
          <a:xfrm>
            <a:off x="8541026" y="947531"/>
            <a:ext cx="571500" cy="0"/>
          </a:xfrm>
          <a:prstGeom prst="straightConnector1">
            <a:avLst/>
          </a:prstGeom>
          <a:ln>
            <a:headEnd type="triangle" w="lg" len="lg"/>
            <a:tailEnd type="none" w="lg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172F3197-A1A6-F5F0-203B-3EA3A37DEA24}"/>
              </a:ext>
            </a:extLst>
          </p:cNvPr>
          <p:cNvCxnSpPr>
            <a:cxnSpLocks/>
          </p:cNvCxnSpPr>
          <p:nvPr/>
        </p:nvCxnSpPr>
        <p:spPr>
          <a:xfrm>
            <a:off x="10830339" y="947531"/>
            <a:ext cx="571500" cy="0"/>
          </a:xfrm>
          <a:prstGeom prst="straightConnector1">
            <a:avLst/>
          </a:prstGeom>
          <a:ln>
            <a:headEnd type="triangle" w="lg" len="lg"/>
            <a:tailEnd type="none" w="lg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E7A6ED40-A09A-D736-11CB-44E6BF2277D9}"/>
              </a:ext>
            </a:extLst>
          </p:cNvPr>
          <p:cNvCxnSpPr>
            <a:cxnSpLocks/>
          </p:cNvCxnSpPr>
          <p:nvPr/>
        </p:nvCxnSpPr>
        <p:spPr>
          <a:xfrm>
            <a:off x="1683024" y="6483070"/>
            <a:ext cx="571500" cy="0"/>
          </a:xfrm>
          <a:prstGeom prst="straightConnector1">
            <a:avLst/>
          </a:prstGeom>
          <a:ln>
            <a:tailEnd type="triangle" w="lg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55AEE0B0-9AE3-9C48-BD63-30C856B99E89}"/>
              </a:ext>
            </a:extLst>
          </p:cNvPr>
          <p:cNvCxnSpPr>
            <a:cxnSpLocks/>
          </p:cNvCxnSpPr>
          <p:nvPr/>
        </p:nvCxnSpPr>
        <p:spPr>
          <a:xfrm>
            <a:off x="4093048" y="6509574"/>
            <a:ext cx="571500" cy="0"/>
          </a:xfrm>
          <a:prstGeom prst="straightConnector1">
            <a:avLst/>
          </a:prstGeom>
          <a:ln>
            <a:tailEnd type="triangle" w="lg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F34A34ED-7E4A-18BC-8031-25B24415012A}"/>
              </a:ext>
            </a:extLst>
          </p:cNvPr>
          <p:cNvCxnSpPr>
            <a:cxnSpLocks/>
          </p:cNvCxnSpPr>
          <p:nvPr/>
        </p:nvCxnSpPr>
        <p:spPr>
          <a:xfrm>
            <a:off x="5977616" y="6509574"/>
            <a:ext cx="571500" cy="0"/>
          </a:xfrm>
          <a:prstGeom prst="straightConnector1">
            <a:avLst/>
          </a:prstGeom>
          <a:ln>
            <a:tailEnd type="triangle" w="lg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D741FF00-BE08-547E-52EE-5F0BCC51A8AD}"/>
              </a:ext>
            </a:extLst>
          </p:cNvPr>
          <p:cNvCxnSpPr>
            <a:cxnSpLocks/>
          </p:cNvCxnSpPr>
          <p:nvPr/>
        </p:nvCxnSpPr>
        <p:spPr>
          <a:xfrm>
            <a:off x="8340587" y="6509574"/>
            <a:ext cx="571500" cy="0"/>
          </a:xfrm>
          <a:prstGeom prst="straightConnector1">
            <a:avLst/>
          </a:prstGeom>
          <a:ln>
            <a:headEnd type="triangle" w="lg" len="lg"/>
            <a:tailEnd type="none" w="lg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17924B28-F564-C672-1183-1E797BDCD7C9}"/>
              </a:ext>
            </a:extLst>
          </p:cNvPr>
          <p:cNvCxnSpPr>
            <a:cxnSpLocks/>
          </p:cNvCxnSpPr>
          <p:nvPr/>
        </p:nvCxnSpPr>
        <p:spPr>
          <a:xfrm>
            <a:off x="10629900" y="6669417"/>
            <a:ext cx="571500" cy="0"/>
          </a:xfrm>
          <a:prstGeom prst="straightConnector1">
            <a:avLst/>
          </a:prstGeom>
          <a:ln>
            <a:headEnd type="triangle" w="lg" len="lg"/>
            <a:tailEnd type="none" w="lg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id="{B4A2FA05-1313-F354-5009-2EAD3FC13995}"/>
              </a:ext>
            </a:extLst>
          </p:cNvPr>
          <p:cNvSpPr/>
          <p:nvPr/>
        </p:nvSpPr>
        <p:spPr>
          <a:xfrm>
            <a:off x="6381751" y="274638"/>
            <a:ext cx="1776803" cy="4065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27432" rtlCol="0" anchor="t"/>
          <a:lstStyle/>
          <a:p>
            <a:r>
              <a:rPr lang="en-US" sz="1000">
                <a:solidFill>
                  <a:schemeClr val="tx1"/>
                </a:solidFill>
              </a:rPr>
              <a:t>Domain:</a:t>
            </a:r>
          </a:p>
          <a:p>
            <a:r>
              <a:rPr lang="en-US" sz="1000">
                <a:solidFill>
                  <a:schemeClr val="tx1"/>
                </a:solidFill>
              </a:rPr>
              <a:t>Pharmaceuticals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351B53B3-288F-F843-F9B2-1B940741821D}"/>
              </a:ext>
            </a:extLst>
          </p:cNvPr>
          <p:cNvSpPr/>
          <p:nvPr/>
        </p:nvSpPr>
        <p:spPr>
          <a:xfrm>
            <a:off x="8212053" y="268429"/>
            <a:ext cx="1776803" cy="4065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27432" rtlCol="0" anchor="t"/>
          <a:lstStyle/>
          <a:p>
            <a:r>
              <a:rPr lang="en-US" sz="1000">
                <a:solidFill>
                  <a:schemeClr val="tx1"/>
                </a:solidFill>
              </a:rPr>
              <a:t>Designed by:</a:t>
            </a:r>
          </a:p>
          <a:p>
            <a:r>
              <a:rPr lang="en-US" sz="1000">
                <a:solidFill>
                  <a:schemeClr val="tx1"/>
                </a:solidFill>
              </a:rPr>
              <a:t>Team Pharma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28BDA469-3004-5BDF-4E54-627950D19EB4}"/>
              </a:ext>
            </a:extLst>
          </p:cNvPr>
          <p:cNvSpPr/>
          <p:nvPr/>
        </p:nvSpPr>
        <p:spPr>
          <a:xfrm>
            <a:off x="10196425" y="268429"/>
            <a:ext cx="928795" cy="4065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27432" rtlCol="0" anchor="t"/>
          <a:lstStyle/>
          <a:p>
            <a:r>
              <a:rPr lang="en-US" sz="1000">
                <a:solidFill>
                  <a:schemeClr val="tx1"/>
                </a:solidFill>
              </a:rPr>
              <a:t>Date:</a:t>
            </a:r>
          </a:p>
          <a:p>
            <a:r>
              <a:rPr lang="en-US" sz="1000">
                <a:solidFill>
                  <a:schemeClr val="tx1"/>
                </a:solidFill>
              </a:rPr>
              <a:t>6/24/2026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053A00CB-6D3D-C7D0-3069-92F2E2CED35E}"/>
              </a:ext>
            </a:extLst>
          </p:cNvPr>
          <p:cNvSpPr/>
          <p:nvPr/>
        </p:nvSpPr>
        <p:spPr>
          <a:xfrm>
            <a:off x="11173750" y="268429"/>
            <a:ext cx="928795" cy="4065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27432" rtlCol="0" anchor="t"/>
          <a:lstStyle/>
          <a:p>
            <a:r>
              <a:rPr lang="en-US" sz="1000">
                <a:solidFill>
                  <a:schemeClr val="tx1"/>
                </a:solidFill>
              </a:rPr>
              <a:t>Version:</a:t>
            </a:r>
          </a:p>
          <a:p>
            <a:r>
              <a:rPr sz="1000"/>
              <a:t>v1.0</a:t>
            </a:r>
          </a:p>
        </p:txBody>
      </p:sp>
    </p:spTree>
    <p:extLst>
      <p:ext uri="{BB962C8B-B14F-4D97-AF65-F5344CB8AC3E}">
        <p14:creationId xmlns:p14="http://schemas.microsoft.com/office/powerpoint/2010/main" val="305167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CBAF2-AE92-477E-656C-DFF404E19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11141565" cy="1107996"/>
          </a:xfrm>
        </p:spPr>
        <p:txBody>
          <a:bodyPr/>
          <a:lstStyle/>
          <a:p>
            <a:r>
              <a:rPr lang="en-US"/>
              <a:t>Worksheet A  |  Customer Pressure Brief</a:t>
            </a:r>
            <a:br>
              <a:rPr lang="en-US"/>
            </a:b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373DC2-12D3-9D76-A9CA-CCB2671D18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Capture the customer’s reality in their language. No tech terms.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2D7D3A9-7251-E2FC-5FF7-DE9A2149EF50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600200"/>
          <a:ext cx="11338559" cy="459028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Element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</a:rPr>
                        <a:t>One-line problem statement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202020"/>
                          </a:solidFill>
                        </a:rPr>
                        <a:t>Merck's biggest product, Keytruda, loses U.S. patent protection in 2028 — it must refill its pipeline and run leaner, higher-quality operations to protect growth.</a:t>
                      </a:r>
                      <a:endParaRPr sz="1400" i="1">
                        <a:solidFill>
                          <a:srgbClr val="6B6B6B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</a:rPr>
                        <a:t>2–3 measurable business outcomes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b="0" sz="900">
                          <a:solidFill>
                            <a:srgbClr val="202020"/>
                          </a:solidFill>
                        </a:rPr>
                        <a:t>• Speed: cut discovery &amp; regulatory-submission time (months, not years)</a:t>
                      </a:r>
                      <a:endParaRPr sz="1400" i="1">
                        <a:solidFill>
                          <a:srgbClr val="6B6B6B"/>
                        </a:solidFill>
                      </a:endParaRPr>
                    </a:p>
                    <a:p>
                      <a:r>
                        <a:rPr b="0" sz="900">
                          <a:solidFill>
                            <a:srgbClr val="202020"/>
                          </a:solidFill>
                        </a:rPr>
                        <a:t>• Quality: fewer manufacturing deviations; faster batch release</a:t>
                      </a:r>
                    </a:p>
                    <a:p>
                      <a:r>
                        <a:rPr b="0" sz="900">
                          <a:solidFill>
                            <a:srgbClr val="202020"/>
                          </a:solidFill>
                        </a:rPr>
                        <a:t>• Cost: ~$3B annual savings target by 2027; protect margins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</a:rPr>
                        <a:t>Top 5 business pressures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b="0" sz="900">
                          <a:solidFill>
                            <a:srgbClr val="202020"/>
                          </a:solidFill>
                        </a:rPr>
                        <a:t>• Patent cliff: Keytruda ~46% of sales; U.S. exclusivity ends Dec 2028</a:t>
                      </a:r>
                      <a:endParaRPr sz="1400" i="1">
                        <a:solidFill>
                          <a:srgbClr val="6B6B6B"/>
                        </a:solidFill>
                      </a:endParaRPr>
                    </a:p>
                    <a:p>
                      <a:r>
                        <a:rPr b="0" sz="900">
                          <a:solidFill>
                            <a:srgbClr val="202020"/>
                          </a:solidFill>
                        </a:rPr>
                        <a:t>• Pipeline gap: new revenue needed before 2028</a:t>
                      </a:r>
                    </a:p>
                    <a:p>
                      <a:r>
                        <a:rPr b="0" sz="900">
                          <a:solidFill>
                            <a:srgbClr val="202020"/>
                          </a:solidFill>
                        </a:rPr>
                        <a:t>• Manufacturing quality &amp; GMP / regulatory scrutiny</a:t>
                      </a:r>
                    </a:p>
                    <a:p>
                      <a:r>
                        <a:rPr b="0" sz="900">
                          <a:solidFill>
                            <a:srgbClr val="202020"/>
                          </a:solidFill>
                        </a:rPr>
                        <a:t>• Supply-chain disruption &amp; shortage risk</a:t>
                      </a:r>
                    </a:p>
                    <a:p>
                      <a:r>
                        <a:rPr b="0" sz="900">
                          <a:solidFill>
                            <a:srgbClr val="202020"/>
                          </a:solidFill>
                        </a:rPr>
                        <a:t>• Cost / margin pressure; investor expectations</a:t>
                      </a:r>
                    </a:p>
                    <a:p>
                      <a:r>
                        <a:rPr b="1" sz="900">
                          <a:solidFill>
                            <a:srgbClr val="202020"/>
                          </a:solidFill>
                        </a:rPr>
                        <a:t>Direct quotes (sourced):</a:t>
                      </a:r>
                    </a:p>
                    <a:p>
                      <a:r>
                        <a:rPr b="0" sz="900">
                          <a:solidFill>
                            <a:srgbClr val="202020"/>
                          </a:solidFill>
                        </a:rPr>
                        <a:t>– R. Davis, Merck CEO: “Our belief in our ability to have substantial growth once we get closer to the LOE is as high as it’s ever been.” (FiercePharma, 2026)</a:t>
                      </a:r>
                    </a:p>
                    <a:p>
                      <a:r>
                        <a:rPr b="0" sz="900">
                          <a:solidFill>
                            <a:srgbClr val="202020"/>
                          </a:solidFill>
                        </a:rPr>
                        <a:t>– R. Kim, Merck CTO: “We felt like some of our scientists were taking time being copyeditors. That’s not what they trained for.” (NAM, 2025)</a:t>
                      </a:r>
                    </a:p>
                    <a:p>
                      <a:r>
                        <a:rPr b="0" sz="900">
                          <a:solidFill>
                            <a:srgbClr val="202020"/>
                          </a:solidFill>
                        </a:rPr>
                        <a:t>– T. Coleman, Eli Lilly CIO: “Each day that a new drug or vaccine gets to market sooner, it creates $1–3 Million in accelerated revenue.” (Yseop, 2026)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</a:rPr>
                        <a:t>Strategy vs execution tensions (1–2)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202020"/>
                          </a:solidFill>
                        </a:rPr>
                        <a:t>• Ambition is enterprise-wide “agentic AI,” but most disclosed wins are still pilots — scaling to 70k+ staff is unproven</a:t>
                      </a:r>
                      <a:endParaRPr sz="1400" i="1">
                        <a:solidFill>
                          <a:srgbClr val="6B6B6B"/>
                        </a:solidFill>
                      </a:endParaRPr>
                    </a:p>
                    <a:p>
                      <a:r>
                        <a:rPr b="0" sz="1000">
                          <a:solidFill>
                            <a:srgbClr val="202020"/>
                          </a:solidFill>
                        </a:rPr>
                        <a:t>• Aggressive manufacturing AI meets strict GMP validation (EU Annex 22): speed vs compliance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</a:rPr>
                        <a:t>What has already been tried?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b="0" sz="900">
                          <a:solidFill>
                            <a:srgbClr val="202020"/>
                          </a:solidFill>
                        </a:rPr>
                        <a:t>• Merck — Gen-AI CSR authoring: 180→80 hrs, −50% errors (w/ McKinsey QuantumBlack)</a:t>
                      </a:r>
                      <a:endParaRPr sz="1400" i="1">
                        <a:solidFill>
                          <a:srgbClr val="6B6B6B"/>
                        </a:solidFill>
                      </a:endParaRPr>
                    </a:p>
                    <a:p>
                      <a:r>
                        <a:rPr b="0" sz="900">
                          <a:solidFill>
                            <a:srgbClr val="202020"/>
                          </a:solidFill>
                        </a:rPr>
                        <a:t>• Merck — Gen-AI deviation mgmt (AWS Bedrock / OpenSearch, RAG); GPTeal LLM gateway</a:t>
                      </a:r>
                    </a:p>
                    <a:p>
                      <a:r>
                        <a:rPr b="0" sz="900">
                          <a:solidFill>
                            <a:srgbClr val="202020"/>
                          </a:solidFill>
                        </a:rPr>
                        <a:t>• Merck — computer-vision inspection; continuous mfg (Seeq + OSIsoft PI)</a:t>
                      </a:r>
                    </a:p>
                    <a:p>
                      <a:r>
                        <a:rPr b="0" sz="900">
                          <a:solidFill>
                            <a:srgbClr val="202020"/>
                          </a:solidFill>
                        </a:rPr>
                        <a:t>• Merck — Google Cloud Gemini (~$1B); Moderna (V940), Mayo, Variational AI, Protillion</a:t>
                      </a:r>
                    </a:p>
                    <a:p>
                      <a:r>
                        <a:rPr b="0" sz="900">
                          <a:solidFill>
                            <a:srgbClr val="202020"/>
                          </a:solidFill>
                        </a:rPr>
                        <a:t>• Competitors racing on speed: AstraZeneca protocol AI (240+ trials); Pfizer “Charlie”; Bayer coding LLM 96% (four-eyes)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C0C91A03-B6B2-CE0F-1AED-94EFC14BDE7F}"/>
              </a:ext>
            </a:extLst>
          </p:cNvPr>
          <p:cNvSpPr txBox="1"/>
          <p:nvPr/>
        </p:nvSpPr>
        <p:spPr>
          <a:xfrm>
            <a:off x="117362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900" b="0" i="0">
                <a:solidFill>
                  <a:srgbClr val="6B6B6B"/>
                </a:solidFill>
                <a:latin typeface="Calibri"/>
              </a:defRPr>
            </a:pPr>
            <a:fld id="{0091C17E-2F65-4C71-87BC-76C5C81EFBFA}" type="slidenum">
              <a:rPr lang="en-US" smtClean="0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71898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E10DD-0F5E-4830-867C-CB584E34C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11141565" cy="553998"/>
          </a:xfrm>
        </p:spPr>
        <p:txBody>
          <a:bodyPr/>
          <a:lstStyle/>
          <a:p>
            <a:r>
              <a:rPr lang="en-US"/>
              <a:t>Worksheet B &amp; C  |  Influence Map + Discovery Pack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F03AA2-6B17-3AE7-F642-A060D2BA63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Who decides? Who blocks? What questions change the room?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B0BBA24-CF9E-A669-6017-672691220492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965960"/>
          <a:ext cx="6400800" cy="428755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459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Leader / Role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Priority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Influence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Validate Live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592">
                <a:tc>
                  <a:txBody>
                    <a:bodyPr wrap="square" anchor="ctr"/>
                    <a:lstStyle/>
                    <a:p>
                      <a:r>
                        <a:rPr b="1" sz="1000">
                          <a:solidFill>
                            <a:srgbClr val="202020"/>
                          </a:solidFill>
                        </a:rPr>
                        <a:t>Robert M. Davis — Chairman &amp; CEO</a:t>
                      </a:r>
                      <a:endParaRPr/>
                    </a:p>
                  </a:txBody>
                  <a:tcPr anchor="ctr"/>
                </a:tc>
                <a:tc>
                  <a:txBody>
                    <a:bodyPr wrap="square" anchor="ctr"/>
                    <a:lstStyle/>
                    <a:p>
                      <a:r>
                        <a:rPr b="0" sz="900">
                          <a:solidFill>
                            <a:srgbClr val="202020"/>
                          </a:solidFill>
                        </a:rPr>
                        <a:t>Refill pipeline; deliver growth post-Keytruda</a:t>
                      </a:r>
                      <a:endParaRPr/>
                    </a:p>
                  </a:txBody>
                  <a:tcPr anchor="ctr"/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b="0" sz="900">
                          <a:solidFill>
                            <a:srgbClr val="202020"/>
                          </a:solidFill>
                        </a:rPr>
                        <a:t>Sponsor (high)</a:t>
                      </a:r>
                      <a:endParaRPr/>
                    </a:p>
                  </a:txBody>
                  <a:tcPr anchor="ctr"/>
                </a:tc>
                <a:tc>
                  <a:txBody>
                    <a:bodyPr wrap="square" anchor="ctr"/>
                    <a:lstStyle/>
                    <a:p>
                      <a:r>
                        <a:rPr b="0" sz="900">
                          <a:solidFill>
                            <a:srgbClr val="202020"/>
                          </a:solidFill>
                        </a:rPr>
                        <a:t>Is enterprise AI a funded board-level priority?</a:t>
                      </a:r>
                      <a:endParaRPr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592">
                <a:tc>
                  <a:txBody>
                    <a:bodyPr wrap="square" anchor="ctr"/>
                    <a:lstStyle/>
                    <a:p>
                      <a:r>
                        <a:rPr b="1" sz="1000">
                          <a:solidFill>
                            <a:srgbClr val="202020"/>
                          </a:solidFill>
                        </a:rPr>
                        <a:t>Dean Y. Li — President, Merck Research Labs</a:t>
                      </a:r>
                      <a:endParaRPr/>
                    </a:p>
                  </a:txBody>
                  <a:tcPr anchor="ctr"/>
                </a:tc>
                <a:tc>
                  <a:txBody>
                    <a:bodyPr wrap="square" anchor="ctr"/>
                    <a:lstStyle/>
                    <a:p>
                      <a:r>
                        <a:rPr b="0" sz="900">
                          <a:solidFill>
                            <a:srgbClr val="202020"/>
                          </a:solidFill>
                        </a:rPr>
                        <a:t>R&amp;D productivity; pipeline speed</a:t>
                      </a:r>
                      <a:endParaRPr/>
                    </a:p>
                  </a:txBody>
                  <a:tcPr anchor="ctr"/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b="0" sz="900">
                          <a:solidFill>
                            <a:srgbClr val="202020"/>
                          </a:solidFill>
                        </a:rPr>
                        <a:t>Decision-maker (high)</a:t>
                      </a:r>
                      <a:endParaRPr/>
                    </a:p>
                  </a:txBody>
                  <a:tcPr anchor="ctr"/>
                </a:tc>
                <a:tc>
                  <a:txBody>
                    <a:bodyPr wrap="square" anchor="ctr"/>
                    <a:lstStyle/>
                    <a:p>
                      <a:r>
                        <a:rPr b="0" sz="900">
                          <a:solidFill>
                            <a:srgbClr val="202020"/>
                          </a:solidFill>
                        </a:rPr>
                        <a:t>Which AI use cases are in production in MRL?</a:t>
                      </a:r>
                      <a:endParaRPr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592">
                <a:tc>
                  <a:txBody>
                    <a:bodyPr wrap="square" anchor="ctr"/>
                    <a:lstStyle/>
                    <a:p>
                      <a:r>
                        <a:rPr b="1" sz="1000">
                          <a:solidFill>
                            <a:srgbClr val="202020"/>
                          </a:solidFill>
                        </a:rPr>
                        <a:t>Dave Williams — EVP, CIO &amp; Chief Digital Officer</a:t>
                      </a:r>
                      <a:endParaRPr/>
                    </a:p>
                  </a:txBody>
                  <a:tcPr anchor="ctr"/>
                </a:tc>
                <a:tc>
                  <a:txBody>
                    <a:bodyPr wrap="square" anchor="ctr"/>
                    <a:lstStyle/>
                    <a:p>
                      <a:r>
                        <a:rPr b="0" sz="900">
                          <a:solidFill>
                            <a:srgbClr val="202020"/>
                          </a:solidFill>
                        </a:rPr>
                        <a:t>Enterprise AI platform; scale beyond pilots</a:t>
                      </a:r>
                      <a:endParaRPr/>
                    </a:p>
                  </a:txBody>
                  <a:tcPr anchor="ctr"/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b="0" sz="900">
                          <a:solidFill>
                            <a:srgbClr val="202020"/>
                          </a:solidFill>
                        </a:rPr>
                        <a:t>Platform owner (high)</a:t>
                      </a:r>
                      <a:endParaRPr/>
                    </a:p>
                  </a:txBody>
                  <a:tcPr anchor="ctr"/>
                </a:tc>
                <a:tc>
                  <a:txBody>
                    <a:bodyPr wrap="square" anchor="ctr"/>
                    <a:lstStyle/>
                    <a:p>
                      <a:r>
                        <a:rPr b="0" sz="900">
                          <a:solidFill>
                            <a:srgbClr val="202020"/>
                          </a:solidFill>
                        </a:rPr>
                        <a:t>How is Gemini Enterprise governed &amp; measured?</a:t>
                      </a:r>
                      <a:endParaRPr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4592">
                <a:tc>
                  <a:txBody>
                    <a:bodyPr wrap="square" anchor="ctr"/>
                    <a:lstStyle/>
                    <a:p>
                      <a:r>
                        <a:rPr b="1" sz="1000">
                          <a:solidFill>
                            <a:srgbClr val="202020"/>
                          </a:solidFill>
                        </a:rPr>
                        <a:t>EVP &amp; President, Merck Manufacturing Division</a:t>
                      </a:r>
                      <a:endParaRPr/>
                    </a:p>
                  </a:txBody>
                  <a:tcPr anchor="ctr"/>
                </a:tc>
                <a:tc>
                  <a:txBody>
                    <a:bodyPr wrap="square" anchor="ctr"/>
                    <a:lstStyle/>
                    <a:p>
                      <a:r>
                        <a:rPr b="0" sz="900">
                          <a:solidFill>
                            <a:srgbClr val="202020"/>
                          </a:solidFill>
                        </a:rPr>
                        <a:t>Right-first-time; supply reliability</a:t>
                      </a:r>
                      <a:endParaRPr/>
                    </a:p>
                  </a:txBody>
                  <a:tcPr anchor="ctr"/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b="0" sz="900">
                          <a:solidFill>
                            <a:srgbClr val="202020"/>
                          </a:solidFill>
                        </a:rPr>
                        <a:t>Economic buyer (high)</a:t>
                      </a:r>
                      <a:endParaRPr/>
                    </a:p>
                  </a:txBody>
                  <a:tcPr anchor="ctr"/>
                </a:tc>
                <a:tc>
                  <a:txBody>
                    <a:bodyPr wrap="square" anchor="ctr"/>
                    <a:lstStyle/>
                    <a:p>
                      <a:r>
                        <a:rPr b="0" sz="900">
                          <a:solidFill>
                            <a:srgbClr val="202020"/>
                          </a:solidFill>
                        </a:rPr>
                        <a:t>What deviation / throughput targets define success?</a:t>
                      </a:r>
                      <a:endParaRPr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4592">
                <a:tc>
                  <a:txBody>
                    <a:bodyPr wrap="square" anchor="ctr"/>
                    <a:lstStyle/>
                    <a:p>
                      <a:r>
                        <a:rPr b="1" sz="1000">
                          <a:solidFill>
                            <a:srgbClr val="202020"/>
                          </a:solidFill>
                        </a:rPr>
                        <a:t>VP Global Quality (ex-FDA / CDER)</a:t>
                      </a:r>
                      <a:endParaRPr/>
                    </a:p>
                  </a:txBody>
                  <a:tcPr anchor="ctr"/>
                </a:tc>
                <a:tc>
                  <a:txBody>
                    <a:bodyPr wrap="square" anchor="ctr"/>
                    <a:lstStyle/>
                    <a:p>
                      <a:r>
                        <a:rPr b="0" sz="900">
                          <a:solidFill>
                            <a:srgbClr val="202020"/>
                          </a:solidFill>
                        </a:rPr>
                        <a:t>GMP compliance; EU Annex 22 readiness</a:t>
                      </a:r>
                      <a:endParaRPr/>
                    </a:p>
                  </a:txBody>
                  <a:tcPr anchor="ctr"/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b="0" sz="900">
                          <a:solidFill>
                            <a:srgbClr val="202020"/>
                          </a:solidFill>
                        </a:rPr>
                        <a:t>Blocker / approver (high)</a:t>
                      </a:r>
                      <a:endParaRPr/>
                    </a:p>
                  </a:txBody>
                  <a:tcPr anchor="ctr"/>
                </a:tc>
                <a:tc>
                  <a:txBody>
                    <a:bodyPr wrap="square" anchor="ctr"/>
                    <a:lstStyle/>
                    <a:p>
                      <a:r>
                        <a:rPr b="0" sz="900">
                          <a:solidFill>
                            <a:srgbClr val="202020"/>
                          </a:solidFill>
                        </a:rPr>
                        <a:t>What validation evidence is needed to deploy AI?</a:t>
                      </a:r>
                      <a:endParaRPr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079668F-C5A1-3A92-6213-D2BFEC815FF9}"/>
              </a:ext>
            </a:extLst>
          </p:cNvPr>
          <p:cNvSpPr txBox="1"/>
          <p:nvPr/>
        </p:nvSpPr>
        <p:spPr>
          <a:xfrm>
            <a:off x="7040880" y="1106484"/>
            <a:ext cx="2347117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defPPr>
              <a:defRPr lang="en-US"/>
            </a:defPPr>
            <a:lvl1pPr>
              <a:defRPr sz="1600">
                <a:latin typeface="+mj-lt"/>
              </a:defRPr>
            </a:lvl1pPr>
          </a:lstStyle>
          <a:p>
            <a:r>
              <a:t>C.  Bold Discovery Pack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8A44EB-628B-EF66-4EAB-B04A3E05A8EC}"/>
              </a:ext>
            </a:extLst>
          </p:cNvPr>
          <p:cNvSpPr/>
          <p:nvPr/>
        </p:nvSpPr>
        <p:spPr>
          <a:xfrm>
            <a:off x="7040880" y="1517964"/>
            <a:ext cx="4754880" cy="1600200"/>
          </a:xfrm>
          <a:prstGeom prst="rect">
            <a:avLst/>
          </a:prstGeom>
          <a:solidFill>
            <a:schemeClr val="accent3">
              <a:lumMod val="20000"/>
              <a:lumOff val="80000"/>
              <a:alpha val="75000"/>
            </a:schemeClr>
          </a:solidFill>
          <a:ln w="635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tlCol="0" anchor="t"/>
          <a:lstStyle/>
          <a:p>
            <a:pPr>
              <a:spcAft>
                <a:spcPts val="1200"/>
              </a:spcAft>
            </a:pPr>
            <a:r>
              <a:rPr lang="en-US" sz="1400" b="1">
                <a:solidFill>
                  <a:schemeClr val="tx1"/>
                </a:solidFill>
              </a:rPr>
              <a:t>2–3 bold provocations (future-facing, tradeoff-forcing)</a:t>
            </a:r>
          </a:p>
          <a:p>
            <a:pPr marL="228600" indent="-228600">
              <a:spcAft>
                <a:spcPts val="600"/>
              </a:spcAft>
              <a:buFont typeface="+mj-lt"/>
              <a:buAutoNum type="arabicPeriod"/>
            </a:pPr>
            <a:r>
              <a:rPr lang="en-US" sz="1000">
                <a:solidFill>
                  <a:schemeClr val="tx1"/>
                </a:solidFill>
              </a:rPr>
              <a:t>If AI halves deviation-closure time, who signs the GMP record?</a:t>
            </a:r>
          </a:p>
          <a:p>
            <a:pPr marL="228600" indent="-228600">
              <a:spcAft>
                <a:spcPts val="600"/>
              </a:spcAft>
              <a:buFont typeface="+mj-lt"/>
              <a:buAutoNum type="arabicPeriod"/>
            </a:pPr>
            <a:r>
              <a:rPr lang="en-US" sz="1000">
                <a:solidFill>
                  <a:schemeClr val="tx1"/>
                </a:solidFill>
              </a:rPr>
              <a:t>If AI doesn’t speed the pipeline before 2028, what is the fallback?</a:t>
            </a:r>
          </a:p>
          <a:p>
            <a:pPr marL="228600" indent="-228600">
              <a:spcAft>
                <a:spcPts val="600"/>
              </a:spcAft>
              <a:buFont typeface="+mj-lt"/>
              <a:buAutoNum type="arabicPeriod"/>
            </a:pPr>
            <a:r>
              <a:rPr lang="en-US" sz="1000">
                <a:solidFill>
                  <a:schemeClr val="tx1"/>
                </a:solidFill>
              </a:rPr>
              <a:t>One AI hyperscaler for everything — how do you avoid lock-in?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E2248D-EBE7-B5B1-836E-5D9E4F350F37}"/>
              </a:ext>
            </a:extLst>
          </p:cNvPr>
          <p:cNvSpPr/>
          <p:nvPr/>
        </p:nvSpPr>
        <p:spPr>
          <a:xfrm>
            <a:off x="7040880" y="3264835"/>
            <a:ext cx="4754880" cy="2988677"/>
          </a:xfrm>
          <a:prstGeom prst="rect">
            <a:avLst/>
          </a:prstGeom>
          <a:solidFill>
            <a:schemeClr val="accent3">
              <a:lumMod val="20000"/>
              <a:lumOff val="80000"/>
              <a:alpha val="75000"/>
            </a:schemeClr>
          </a:solidFill>
          <a:ln w="635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tlCol="0" anchor="t"/>
          <a:lstStyle/>
          <a:p>
            <a:pPr>
              <a:spcAft>
                <a:spcPts val="1200"/>
              </a:spcAft>
            </a:pPr>
            <a:r>
              <a:rPr lang="en-US" sz="1400" b="1">
                <a:solidFill>
                  <a:schemeClr val="tx1"/>
                </a:solidFill>
              </a:rPr>
              <a:t>7–10 discovery questions (surface risk, tradeoffs, blind spots)   ·  ★ = ask first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b="1">
                <a:solidFill>
                  <a:srgbClr val="44661F"/>
                </a:solidFill>
              </a:rPr>
              <a:t>★ Which AI use cases are in production, not just pilots?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b="1">
                <a:solidFill>
                  <a:srgbClr val="44661F"/>
                </a:solidFill>
              </a:rPr>
              <a:t>★ How do you validate and govern AI in GMP-regulated work?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b="1">
                <a:solidFill>
                  <a:srgbClr val="44661F"/>
                </a:solidFill>
              </a:rPr>
              <a:t>★ What gains have you booked — deviations, release, submissions?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b="1">
                <a:solidFill>
                  <a:schemeClr val="tx1"/>
                </a:solidFill>
              </a:rPr>
              <a:t>Where is human sign-off still mandatory today?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b="1">
                <a:solidFill>
                  <a:schemeClr val="tx1"/>
                </a:solidFill>
              </a:rPr>
              <a:t>How is the Google Cloud AI investment measured for ROI?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b="1">
                <a:solidFill>
                  <a:schemeClr val="tx1"/>
                </a:solidFill>
              </a:rPr>
              <a:t>Is AI risk-sensing live across your supply network?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b="1">
                <a:solidFill>
                  <a:schemeClr val="tx1"/>
                </a:solidFill>
              </a:rPr>
              <a:t>How ready is your data for enterprise-wide AI?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b="1">
                <a:solidFill>
                  <a:schemeClr val="tx1"/>
                </a:solidFill>
              </a:rPr>
              <a:t>How do you manage AI partner dependency and IP?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b="1">
                <a:solidFill>
                  <a:schemeClr val="tx1"/>
                </a:solidFill>
              </a:rPr>
              <a:t>What skills shifts do scientists and QA teams need?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b="1">
                <a:solidFill>
                  <a:schemeClr val="tx1"/>
                </a:solidFill>
              </a:rPr>
              <a:t>How will EU Annex 22 shape which AI you can deploy?</a:t>
            </a:r>
          </a:p>
          <a:p>
            <a:pPr>
              <a:spcAft>
                <a:spcPts val="600"/>
              </a:spcAft>
            </a:pP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3F4086C-7807-0E92-99D9-E646D9C7B05E}"/>
              </a:ext>
            </a:extLst>
          </p:cNvPr>
          <p:cNvSpPr txBox="1"/>
          <p:nvPr/>
        </p:nvSpPr>
        <p:spPr>
          <a:xfrm>
            <a:off x="457201" y="1554480"/>
            <a:ext cx="5201034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1600">
                <a:latin typeface="+mj-lt"/>
              </a:rPr>
              <a:t>B.  C-Suite &amp; Business Owner Influence Map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04B521E-849B-4001-25E0-5D1B650F48A9}"/>
              </a:ext>
            </a:extLst>
          </p:cNvPr>
          <p:cNvSpPr txBox="1"/>
          <p:nvPr/>
        </p:nvSpPr>
        <p:spPr>
          <a:xfrm>
            <a:off x="117362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900" b="0" i="0">
                <a:solidFill>
                  <a:srgbClr val="6B6B6B"/>
                </a:solidFill>
                <a:latin typeface="Calibri"/>
              </a:defRPr>
            </a:pPr>
            <a:fld id="{0091C17E-2F65-4C71-87BC-76C5C81EFBFA}" type="slidenum">
              <a:rPr lang="en-US" smtClean="0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52546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7E63A-AF3B-0A53-DDBC-DA22CAE2B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11141565" cy="553998"/>
          </a:xfrm>
        </p:spPr>
        <p:txBody>
          <a:bodyPr/>
          <a:lstStyle/>
          <a:p>
            <a:r>
              <a:rPr lang="en-US"/>
              <a:t>Worksheet D  |  Assumptions vs Facts vs Must-Validate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9F19F-1C94-0D0B-1EA5-3721F7C69D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Be honest about what you know, what you assume, and what you must ask the customer.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7D03E9C-F3C9-390A-F0EF-541FF006F9D3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575037"/>
          <a:ext cx="11338559" cy="43891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776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5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6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What we ASSUME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What we KNOW (facts + source)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What we MUST VALIDATE LIVE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017">
                <a:tc>
                  <a:txBody>
                    <a:bodyPr wrap="square" anchor="t"/>
                    <a:lstStyle/>
                    <a:p>
                      <a:r>
                        <a:rPr b="0" sz="1000">
                          <a:solidFill>
                            <a:srgbClr val="202020"/>
                          </a:solidFill>
                        </a:rPr>
                        <a:t>AI is already shortening Merck's discovery cycles</a:t>
                      </a:r>
                      <a:endParaRPr sz="2800"/>
                    </a:p>
                  </a:txBody>
                  <a:tcPr anchor="ctr"/>
                </a:tc>
                <a:tc>
                  <a:txBody>
                    <a:bodyPr wrap="square" anchor="t"/>
                    <a:lstStyle/>
                    <a:p>
                      <a:r>
                        <a:rPr b="0" sz="1000">
                          <a:solidFill>
                            <a:srgbClr val="202020"/>
                          </a:solidFill>
                        </a:rPr>
                        <a:t>AI/ML used in R&amp;D 10+ yrs; Google Cloud Gemini Enterprise deal, 2026 (merck.com, press)</a:t>
                      </a:r>
                      <a:endParaRPr sz="2800"/>
                    </a:p>
                  </a:txBody>
                  <a:tcPr anchor="ctr"/>
                </a:tc>
                <a:tc>
                  <a:txBody>
                    <a:bodyPr wrap="square" anchor="t"/>
                    <a:lstStyle/>
                    <a:p>
                      <a:r>
                        <a:rPr b="0" sz="1000">
                          <a:solidFill>
                            <a:srgbClr val="202020"/>
                          </a:solidFill>
                        </a:rPr>
                        <a:t>Which programs show measurable cycle-time gains vs pilots?</a:t>
                      </a:r>
                      <a:endParaRPr sz="2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017">
                <a:tc>
                  <a:txBody>
                    <a:bodyPr wrap="square" anchor="t"/>
                    <a:lstStyle/>
                    <a:p>
                      <a:r>
                        <a:rPr b="0" sz="1000">
                          <a:solidFill>
                            <a:srgbClr val="202020"/>
                          </a:solidFill>
                        </a:rPr>
                        <a:t>Deviation handling is still largely manual</a:t>
                      </a:r>
                      <a:endParaRPr sz="2800"/>
                    </a:p>
                  </a:txBody>
                  <a:tcPr anchor="ctr"/>
                </a:tc>
                <a:tc>
                  <a:txBody>
                    <a:bodyPr wrap="square" anchor="t"/>
                    <a:lstStyle/>
                    <a:p>
                      <a:r>
                        <a:rPr b="0" sz="1000">
                          <a:solidFill>
                            <a:srgbClr val="202020"/>
                          </a:solidFill>
                        </a:rPr>
                        <a:t>Built gen-AI deviation knowledge base (AWS Bedrock/OpenSearch); CV inspection (public talks)</a:t>
                      </a:r>
                      <a:endParaRPr sz="2800"/>
                    </a:p>
                  </a:txBody>
                  <a:tcPr anchor="ctr"/>
                </a:tc>
                <a:tc>
                  <a:txBody>
                    <a:bodyPr wrap="square" anchor="t"/>
                    <a:lstStyle/>
                    <a:p>
                      <a:r>
                        <a:rPr b="0" sz="1000">
                          <a:solidFill>
                            <a:srgbClr val="202020"/>
                          </a:solidFill>
                        </a:rPr>
                        <a:t>What % of deviations are AI-assisted, and the closure-time gain?</a:t>
                      </a:r>
                      <a:endParaRPr sz="2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017">
                <a:tc>
                  <a:txBody>
                    <a:bodyPr wrap="square" anchor="t"/>
                    <a:lstStyle/>
                    <a:p>
                      <a:r>
                        <a:rPr b="0" sz="1000">
                          <a:solidFill>
                            <a:srgbClr val="202020"/>
                          </a:solidFill>
                        </a:rPr>
                        <a:t>Supply-chain AI is the least mature / visible</a:t>
                      </a:r>
                      <a:endParaRPr sz="2800"/>
                    </a:p>
                  </a:txBody>
                  <a:tcPr anchor="ctr"/>
                </a:tc>
                <a:tc>
                  <a:txBody>
                    <a:bodyPr wrap="square" anchor="t"/>
                    <a:lstStyle/>
                    <a:p>
                      <a:r>
                        <a:rPr b="0" sz="1000">
                          <a:solidFill>
                            <a:srgbClr val="202020"/>
                          </a:solidFill>
                        </a:rPr>
                        <a:t>Continuous mfg (Seeq + OSIsoft PI); resilience mostly indirect in disclosures</a:t>
                      </a:r>
                      <a:endParaRPr sz="2800"/>
                    </a:p>
                  </a:txBody>
                  <a:tcPr anchor="ctr"/>
                </a:tc>
                <a:tc>
                  <a:txBody>
                    <a:bodyPr wrap="square" anchor="t"/>
                    <a:lstStyle/>
                    <a:p>
                      <a:r>
                        <a:rPr b="0" sz="1000">
                          <a:solidFill>
                            <a:srgbClr val="202020"/>
                          </a:solidFill>
                        </a:rPr>
                        <a:t>Is AI risk-sensing in production? What disruptions has it caught?</a:t>
                      </a:r>
                      <a:endParaRPr sz="2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017">
                <a:tc>
                  <a:txBody>
                    <a:bodyPr wrap="square" anchor="t"/>
                    <a:lstStyle/>
                    <a:p>
                      <a:r>
                        <a:rPr b="0" sz="1000">
                          <a:solidFill>
                            <a:srgbClr val="202020"/>
                          </a:solidFill>
                        </a:rPr>
                        <a:t>The patent cliff is forcing AI urgency</a:t>
                      </a:r>
                      <a:endParaRPr sz="2800"/>
                    </a:p>
                  </a:txBody>
                  <a:tcPr anchor="ctr"/>
                </a:tc>
                <a:tc>
                  <a:txBody>
                    <a:bodyPr wrap="square" anchor="t"/>
                    <a:lstStyle/>
                    <a:p>
                      <a:r>
                        <a:rPr b="0" sz="1000">
                          <a:solidFill>
                            <a:srgbClr val="202020"/>
                          </a:solidFill>
                        </a:rPr>
                        <a:t>Keytruda ~46% of sales; core U.S. patent expires Dec 2028; ~$3B savings by 2027 (10-K, press)</a:t>
                      </a:r>
                      <a:endParaRPr sz="2800"/>
                    </a:p>
                  </a:txBody>
                  <a:tcPr anchor="ctr"/>
                </a:tc>
                <a:tc>
                  <a:txBody>
                    <a:bodyPr wrap="square" anchor="t"/>
                    <a:lstStyle/>
                    <a:p>
                      <a:r>
                        <a:rPr b="0" sz="1000">
                          <a:solidFill>
                            <a:srgbClr val="202020"/>
                          </a:solidFill>
                        </a:rPr>
                        <a:t>How is AI funding tied to the post-2028 growth plan?</a:t>
                      </a:r>
                      <a:endParaRPr sz="2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017">
                <a:tc>
                  <a:txBody>
                    <a:bodyPr wrap="square" anchor="t"/>
                    <a:lstStyle/>
                    <a:p>
                      <a:r>
                        <a:rPr b="0" sz="1000">
                          <a:solidFill>
                            <a:srgbClr val="202020"/>
                          </a:solidFill>
                        </a:rPr>
                        <a:t>EU Annex 22 will gate manufacturing AI</a:t>
                      </a:r>
                      <a:endParaRPr sz="2800"/>
                    </a:p>
                  </a:txBody>
                  <a:tcPr anchor="ctr"/>
                </a:tc>
                <a:tc>
                  <a:txBody>
                    <a:bodyPr wrap="square" anchor="t"/>
                    <a:lstStyle/>
                    <a:p>
                      <a:r>
                        <a:rPr b="0" sz="1000">
                          <a:solidFill>
                            <a:srgbClr val="202020"/>
                          </a:solidFill>
                        </a:rPr>
                        <a:t>Annex 22 draft (Jul 2025): critical vs non-critical AI; performance-equivalence bar</a:t>
                      </a:r>
                      <a:endParaRPr sz="2800"/>
                    </a:p>
                  </a:txBody>
                  <a:tcPr anchor="ctr"/>
                </a:tc>
                <a:tc>
                  <a:txBody>
                    <a:bodyPr wrap="square" anchor="t"/>
                    <a:lstStyle/>
                    <a:p>
                      <a:r>
                        <a:rPr b="0" sz="1000">
                          <a:solidFill>
                            <a:srgbClr val="202020"/>
                          </a:solidFill>
                        </a:rPr>
                        <a:t>Which AI use cases are in-scope? What validation evidence exists?</a:t>
                      </a:r>
                      <a:endParaRPr sz="2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018">
                <a:tc>
                  <a:txBody>
                    <a:bodyPr wrap="square" anchor="t"/>
                    <a:lstStyle/>
                    <a:p>
                      <a:r>
                        <a:rPr b="0" sz="1000">
                          <a:solidFill>
                            <a:srgbClr val="202020"/>
                          </a:solidFill>
                        </a:rPr>
                        <a:t>Scaling depends on governance &amp; data readiness</a:t>
                      </a:r>
                      <a:endParaRPr sz="2800"/>
                    </a:p>
                  </a:txBody>
                  <a:tcPr anchor="ctr"/>
                </a:tc>
                <a:tc>
                  <a:txBody>
                    <a:bodyPr wrap="square" anchor="t"/>
                    <a:lstStyle/>
                    <a:p>
                      <a:r>
                        <a:rPr b="0" sz="1000">
                          <a:solidFill>
                            <a:srgbClr val="202020"/>
                          </a:solidFill>
                        </a:rPr>
                        <a:t>Partner-layered: Google (infra), Moderna/Mayo (R&amp;D), Variational/Protillion (AI biotech)</a:t>
                      </a:r>
                      <a:endParaRPr sz="2800"/>
                    </a:p>
                  </a:txBody>
                  <a:tcPr anchor="ctr"/>
                </a:tc>
                <a:tc>
                  <a:txBody>
                    <a:bodyPr wrap="square" anchor="t"/>
                    <a:lstStyle/>
                    <a:p>
                      <a:r>
                        <a:rPr b="0" sz="1000">
                          <a:solidFill>
                            <a:srgbClr val="202020"/>
                          </a:solidFill>
                        </a:rPr>
                        <a:t>Who owns the data &amp; IP? How is model governance handled?</a:t>
                      </a:r>
                      <a:endParaRPr sz="2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01B0B9C-FE60-2864-12B2-3D6A467EE3D4}"/>
              </a:ext>
            </a:extLst>
          </p:cNvPr>
          <p:cNvSpPr txBox="1"/>
          <p:nvPr/>
        </p:nvSpPr>
        <p:spPr>
          <a:xfrm>
            <a:off x="457200" y="6147037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 i="1">
                <a:solidFill>
                  <a:srgbClr val="6B6B6B"/>
                </a:solidFill>
                <a:latin typeface="Calibri"/>
              </a:defRPr>
            </a:pPr>
            <a:r>
              <a:t>Quality check:   ☐  Every claim tied to a source     ☐  Quotes are accurate     ☐  Anything uncertain is labeled as an assumption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DA306B-994F-3DE1-CCF9-1E020B9A6C2D}"/>
              </a:ext>
            </a:extLst>
          </p:cNvPr>
          <p:cNvSpPr txBox="1"/>
          <p:nvPr/>
        </p:nvSpPr>
        <p:spPr>
          <a:xfrm>
            <a:off x="117362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900" b="0" i="0">
                <a:solidFill>
                  <a:srgbClr val="6B6B6B"/>
                </a:solidFill>
                <a:latin typeface="Calibri"/>
              </a:defRPr>
            </a:pPr>
            <a:fld id="{0091C17E-2F65-4C71-87BC-76C5C81EFBFA}" type="slidenum">
              <a:rPr lang="en-US" smtClean="0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4933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34D15-D1C5-779C-D44E-C4674265C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11141565" cy="553998"/>
          </a:xfrm>
        </p:spPr>
        <p:txBody>
          <a:bodyPr/>
          <a:lstStyle/>
          <a:p>
            <a:r>
              <a:rPr lang="en-US"/>
              <a:t>Present-Out  |  15 Minutes Per Team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F6EA9C-FA3C-0C16-D797-E379D39CBC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Tell the room what this customer is wrestling with — not what we sell.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3CE282-BEDB-04AC-4D62-C2B97D49D166}"/>
              </a:ext>
            </a:extLst>
          </p:cNvPr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 i="1">
                <a:solidFill>
                  <a:srgbClr val="6B6B6B"/>
                </a:solidFill>
                <a:latin typeface="Calibri"/>
              </a:defRPr>
            </a:pPr>
            <a:r>
              <a:t>AI-First Architecting Value with AI  |  Grounded in the Customer — Oil &amp; Gas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AB02271-7DF1-C8A2-6773-73F480AAEE53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470708"/>
          <a:ext cx="11338560" cy="4114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75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782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Cover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chemeClr val="tx1"/>
                          </a:solidFill>
                        </a:rPr>
                        <a:t>60 sec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</a:rPr>
                        <a:t>Business pressures (in the customer’s language)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chemeClr val="tx1"/>
                          </a:solidFill>
                        </a:rPr>
                        <a:t>2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</a:rPr>
                        <a:t>Top trends + competitor moves — only as they relate to those pressures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chemeClr val="tx1"/>
                          </a:solidFill>
                        </a:rPr>
                        <a:t>2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</a:rPr>
                        <a:t>C-suite influence map (who decides, who blocks, what they measure)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chemeClr val="tx1"/>
                          </a:solidFill>
                        </a:rPr>
                        <a:t>2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</a:rPr>
                        <a:t>Your point of view: pressure → outcomes → tradeoffs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chemeClr val="tx1"/>
                          </a:solidFill>
                        </a:rPr>
                        <a:t>2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</a:rPr>
                        <a:t>Provocations + your top 3 questions to ask first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3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chemeClr val="tx1"/>
                          </a:solidFill>
                        </a:rPr>
                        <a:t>1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</a:rPr>
                        <a:t>Buffer + handoff for peer feedback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A125D5A6-1469-027F-B640-DF750BE2C87C}"/>
              </a:ext>
            </a:extLst>
          </p:cNvPr>
          <p:cNvSpPr/>
          <p:nvPr/>
        </p:nvSpPr>
        <p:spPr>
          <a:xfrm>
            <a:off x="457200" y="5722668"/>
            <a:ext cx="11338560" cy="50292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635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200" b="1" i="1">
                <a:solidFill>
                  <a:srgbClr val="0B5594"/>
                </a:solidFill>
                <a:latin typeface="Calibri"/>
              </a:defRPr>
            </a:pPr>
            <a:r>
              <a:rPr lang="en-US">
                <a:solidFill>
                  <a:schemeClr val="bg1"/>
                </a:solidFill>
                <a:latin typeface="Segoe Sans Display" pitchFamily="2" charset="0"/>
                <a:cs typeface="Segoe Sans Display" pitchFamily="2" charset="0"/>
              </a:rPr>
              <a:t>If your first three sentences mention any Microsoft product, start over.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C82062-6DFB-CD48-1AE2-458C8A374695}"/>
              </a:ext>
            </a:extLst>
          </p:cNvPr>
          <p:cNvSpPr txBox="1"/>
          <p:nvPr/>
        </p:nvSpPr>
        <p:spPr>
          <a:xfrm>
            <a:off x="117362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900" b="0" i="0">
                <a:solidFill>
                  <a:srgbClr val="6B6B6B"/>
                </a:solidFill>
                <a:latin typeface="Calibri"/>
              </a:defRPr>
            </a:pPr>
            <a:fld id="{0091C17E-2F65-4C71-87BC-76C5C81EFBFA}" type="slidenum">
              <a:rPr lang="en-US" smtClean="0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214795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10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6F962A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Custom 1">
      <a:majorFont>
        <a:latin typeface="Segoe Sans Text Semibold"/>
        <a:ea typeface=""/>
        <a:cs typeface=""/>
      </a:majorFont>
      <a:minorFont>
        <a:latin typeface="Segoe Sans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C888B7E368CD47A269852A7F2CE17C" ma:contentTypeVersion="6" ma:contentTypeDescription="Create a new document." ma:contentTypeScope="" ma:versionID="7108b4ecdbd6fa611938f1e81e1f0ae5">
  <xsd:schema xmlns:xsd="http://www.w3.org/2001/XMLSchema" xmlns:xs="http://www.w3.org/2001/XMLSchema" xmlns:p="http://schemas.microsoft.com/office/2006/metadata/properties" xmlns:ns1="http://schemas.microsoft.com/sharepoint/v3" xmlns:ns2="069af5a0-cfbe-42f0-a307-c937b704cc9d" targetNamespace="http://schemas.microsoft.com/office/2006/metadata/properties" ma:root="true" ma:fieldsID="4ccb682528a1ace5747906eaaa3072a3" ns1:_="" ns2:_="">
    <xsd:import namespace="http://schemas.microsoft.com/sharepoint/v3"/>
    <xsd:import namespace="069af5a0-cfbe-42f0-a307-c937b704cc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9af5a0-cfbe-42f0-a307-c937b704cc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3807886-B3AC-4750-8CE4-867C07169C69}">
  <ds:schemaRefs>
    <ds:schemaRef ds:uri="069af5a0-cfbe-42f0-a307-c937b704cc9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402AE5A-14FF-433F-805D-73E4304798E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24BE74D-E0A6-48F4-873B-A46A92177601}">
  <ds:schemaRefs>
    <ds:schemaRef ds:uri="069af5a0-cfbe-42f0-a307-c937b704cc9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1_Office Theme</vt:lpstr>
      <vt:lpstr>PowerPoint Presentation</vt:lpstr>
      <vt:lpstr>Exercise Overview</vt:lpstr>
      <vt:lpstr>Business Pressure Lenses</vt:lpstr>
      <vt:lpstr>Team Roles &amp; Copilot Prompts</vt:lpstr>
      <vt:lpstr>Provocations, Outputs &amp; Time</vt:lpstr>
      <vt:lpstr>Worksheet  |  Header &amp; Readiness Standard</vt:lpstr>
      <vt:lpstr>Benefit Dependency Canvas</vt:lpstr>
      <vt:lpstr>Worksheet A  |  Customer Pressure Brief </vt:lpstr>
      <vt:lpstr>Worksheet B &amp; C  |  Influence Map + Discovery Pack</vt:lpstr>
      <vt:lpstr>Worksheet D  |  Assumptions vs Facts vs Must-Validate</vt:lpstr>
      <vt:lpstr>Present-Out  |  15 Minutes Per Team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Terra Suddarth</dc:creator>
  <cp:keywords/>
  <dc:description>generated using python-pptx</dc:description>
  <cp:revision>1</cp:revision>
  <dcterms:created xsi:type="dcterms:W3CDTF">2013-01-27T09:14:16Z</dcterms:created>
  <dcterms:modified xsi:type="dcterms:W3CDTF">2026-06-24T17:28:25Z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0x010100BEC888B7E368CD47A269852A7F2CE17C</vt:lpwstr>
  </property>
  <property fmtid="{D5CDD505-2E9C-101B-9397-08002B2CF9AE}" pid="3" name="xd_ProgID">
    <vt:lpwstr/>
  </property>
  <property fmtid="{D5CDD505-2E9C-101B-9397-08002B2CF9AE}" pid="4" name="MediaServiceImageTags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Signature">
    <vt:bool>false</vt:bool>
  </property>
</Properties>
</file>
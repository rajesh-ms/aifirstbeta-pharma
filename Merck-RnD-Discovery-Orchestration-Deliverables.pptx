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8A431"/>
                </a:solidFill>
                <a:latin typeface="Segoe UI"/>
              </a:rPr>
              <a:t>ARCHITECT TRANSFORMATION  ·  PHASE B  · 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Multi-Step Discovery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D3E6DC"/>
                </a:solidFill>
                <a:latin typeface="Segoe UI"/>
              </a:rPr>
              <a:t>R&amp;D Speed  ·  Cloud-Centric Platform — protein / antibody + foundation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3453384" cy="1234440"/>
          </a:xfrm>
          <a:prstGeom prst="roundRect">
            <a:avLst>
              <a:gd name="adj" fmla="val 6000"/>
            </a:avLst>
          </a:prstGeom>
          <a:solidFill>
            <a:srgbClr val="104A37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4215383"/>
            <a:ext cx="548640" cy="54864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B3526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233672"/>
            <a:ext cx="23561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Georgia"/>
              </a:rPr>
              <a:t>Architecture Concept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690872"/>
            <a:ext cx="295046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3E6DC"/>
                </a:solidFill>
                <a:latin typeface="Segoe UI"/>
              </a:rPr>
              <a:t>Cloud-Centric Platform for governed agentic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3977639"/>
            <a:ext cx="3453384" cy="1234440"/>
          </a:xfrm>
          <a:prstGeom prst="roundRect">
            <a:avLst>
              <a:gd name="adj" fmla="val 6000"/>
            </a:avLst>
          </a:prstGeom>
          <a:solidFill>
            <a:srgbClr val="104A37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23816" y="4215383"/>
            <a:ext cx="548640" cy="54864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B3526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7904" y="4233672"/>
            <a:ext cx="23561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Georgia"/>
              </a:rPr>
              <a:t>Persona-Driven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816" y="4690872"/>
            <a:ext cx="295046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3E6DC"/>
                </a:solidFill>
                <a:latin typeface="Segoe UI"/>
              </a:rPr>
              <a:t>How human + AI collaborate; new hybrid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3977639"/>
            <a:ext cx="3453384" cy="1234440"/>
          </a:xfrm>
          <a:prstGeom prst="roundRect">
            <a:avLst>
              <a:gd name="adj" fmla="val 6000"/>
            </a:avLst>
          </a:prstGeom>
          <a:solidFill>
            <a:srgbClr val="104A37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1520" y="4215383"/>
            <a:ext cx="548640" cy="54864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0B3526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5608" y="4233672"/>
            <a:ext cx="23561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Georgia"/>
              </a:rPr>
              <a:t>C-Suite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4690872"/>
            <a:ext cx="295046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3E6DC"/>
                </a:solidFill>
                <a:latin typeface="Segoe UI"/>
              </a:rPr>
              <a:t>CEO · Business/Ops · Risk — the “So What?”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1E2BE"/>
                </a:solidFill>
                <a:latin typeface="Segoe UI"/>
              </a:rPr>
              <a:t>Merck (MSD)  ·  Pharmaceuticals  ·  Federate, don’t migrate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172200"/>
            <a:ext cx="3776472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D8A431"/>
                </a:solidFill>
                <a:latin typeface="Segoe UI"/>
              </a:rPr>
              <a:t>[brief]  ·  [deck]  ·  [H/design]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8A431"/>
                </a:solidFill>
                <a:latin typeface="Segoe UI"/>
              </a:rPr>
              <a:t>DELIVERABLE 1  ·  ARCHITECTURE CONCEPT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3526"/>
                </a:solidFill>
                <a:latin typeface="Georgia"/>
              </a:rPr>
              <a:t>Cloud-Centric Platform — Governed Agentic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24712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C64"/>
                </a:solidFill>
                <a:latin typeface="Segoe UI"/>
              </a:rPr>
              <a:t>Multi-step discovery orchestration over protein/antibody + foundation models · federated across Azure, Google &amp;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201716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2648" y="1600200"/>
            <a:ext cx="329184" cy="32918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B3526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1514246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Target ID &amp;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1798" y="14813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8A431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4406" y="1481328"/>
            <a:ext cx="201716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04134" y="1600200"/>
            <a:ext cx="329184" cy="32918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B3526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606" y="1527048"/>
            <a:ext cx="1514246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Generative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3284" y="14813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8A431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5892" y="1481328"/>
            <a:ext cx="201716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5620" y="1600200"/>
            <a:ext cx="329184" cy="32918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B3526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092" y="1527048"/>
            <a:ext cx="1514246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Structure &amp;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docking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4771" y="14813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8A431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7379" y="1481328"/>
            <a:ext cx="201716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87107" y="1600200"/>
            <a:ext cx="329184" cy="32918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B3526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4579" y="1527048"/>
            <a:ext cx="1514246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In-silico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6257" y="1481328"/>
            <a:ext cx="3108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8A431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8865" y="1481328"/>
            <a:ext cx="2017166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78593" y="1600200"/>
            <a:ext cx="329184" cy="32918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B3526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6065" y="1527048"/>
            <a:ext cx="1514246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Rank →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924"/>
                </a:solidFill>
                <a:latin typeface="Segoe UI"/>
              </a:rPr>
              <a:t>human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249424"/>
            <a:ext cx="1691640" cy="749808"/>
          </a:xfrm>
          <a:prstGeom prst="roundRect">
            <a:avLst>
              <a:gd name="adj" fmla="val 10000"/>
            </a:avLst>
          </a:prstGeom>
          <a:solidFill>
            <a:srgbClr val="10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249424"/>
            <a:ext cx="1545336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Orchestration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plane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4288" y="2249424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0864" y="2304288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Azure AI Foundry Agent Service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multi-agent: Target·Design·Structure·Triage·Rank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73168" y="2249424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2304288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A2A interoperability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calls Gemini · Protillion · Variational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42048" y="2249424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8624" y="2304288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Human-in-the-loop gate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four-eyes before wet-lab (Annex 22)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122676"/>
            <a:ext cx="1691640" cy="749808"/>
          </a:xfrm>
          <a:prstGeom prst="roundRect">
            <a:avLst>
              <a:gd name="adj" fmla="val 10000"/>
            </a:avLst>
          </a:prstGeom>
          <a:solidFill>
            <a:srgbClr val="10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122676"/>
            <a:ext cx="1545336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Foundation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04288" y="3122676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40864" y="3177540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Foundry catalog + Azure ML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ESM · AlphaFold3 · Boltz-2 · IgLM · RFdiffusion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3168" y="3122676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9744" y="3177540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Azure Quantum Elements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generative chemistry + tox · accel. DFT ~20×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3122676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8624" y="3177540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Federated partner models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Protillion (Ab) · Variational · Gemini (R&amp;D)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995928"/>
            <a:ext cx="1691640" cy="749808"/>
          </a:xfrm>
          <a:prstGeom prst="roundRect">
            <a:avLst>
              <a:gd name="adj" fmla="val 10000"/>
            </a:avLst>
          </a:prstGeom>
          <a:solidFill>
            <a:srgbClr val="10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995928"/>
            <a:ext cx="1545336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Compute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plane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04288" y="3995928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40864" y="4050791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Azure HPC — ND-series GPU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structure prediction &amp; molecular dynamics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73168" y="3995928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9744" y="4050791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CycleCloud / Azure Batch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docking &amp; screening at scale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42048" y="3995928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4050791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Burst &amp; on-demand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capacity without on-prem rebuild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869179"/>
            <a:ext cx="1691640" cy="749808"/>
          </a:xfrm>
          <a:prstGeom prst="roundRect">
            <a:avLst>
              <a:gd name="adj" fmla="val 10000"/>
            </a:avLst>
          </a:prstGeom>
          <a:solidFill>
            <a:srgbClr val="10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4869179"/>
            <a:ext cx="1545336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foundation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04288" y="4869179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40864" y="4924043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Microsoft Fabric / OneLake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shortcuts read S3 + GCS in place (GA)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73168" y="4869179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4924043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Azure Health Data Services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FHIR/DICOM/genomics · Mayo multimodal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42048" y="4869179"/>
            <a:ext cx="235915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8624" y="4924043"/>
            <a:ext cx="2285999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0B3526"/>
                </a:solidFill>
                <a:latin typeface="Segoe UI"/>
              </a:rPr>
              <a:t>Azure AI Search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C64"/>
                </a:solidFill>
                <a:latin typeface="Segoe UI"/>
              </a:rPr>
              <a:t>hybrid RAG over assay &amp; precedent data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65792" y="2249424"/>
            <a:ext cx="1920239" cy="3369563"/>
          </a:xfrm>
          <a:prstGeom prst="roundRect">
            <a:avLst>
              <a:gd name="adj" fmla="val 6000"/>
            </a:avLst>
          </a:prstGeom>
          <a:solidFill>
            <a:srgbClr val="0B3526"/>
          </a:solidFill>
          <a:ln w="15875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2359152"/>
            <a:ext cx="1737359" cy="318668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8A431"/>
                </a:solidFill>
                <a:latin typeface="Georgia"/>
              </a:rPr>
              <a:t>Governance &amp; Identity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850" b="0">
                <a:solidFill>
                  <a:srgbClr val="D3E6DC"/>
                </a:solidFill>
                <a:latin typeface="Segoe UI"/>
              </a:rPr>
              <a:t>cross-cutting plane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▪  Entra Agent ID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▪  Purview lineage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▪  Microsoft Defender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▪  Azure Arc (multicloud/edge)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1E2BE"/>
                </a:solidFill>
                <a:latin typeface="Segoe UI"/>
              </a:rPr>
              <a:t>▪  Part 11 / ALCOA+ ready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765292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15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765292"/>
            <a:ext cx="8778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Outcome:  more validated candidates / cycle  ·  </a:t>
            </a:r>
            <a:r>
              <a:rPr sz="1050" b="1">
                <a:solidFill>
                  <a:srgbClr val="F1E2BE"/>
                </a:solidFill>
                <a:latin typeface="Segoe UI"/>
              </a:rPr>
              <a:t>12–18 mo to clinic vs 4–6 yr norm</a:t>
            </a:r>
            <a:r>
              <a:rPr sz="1050" b="0">
                <a:solidFill>
                  <a:srgbClr val="FFFFFF"/>
                </a:solidFill>
                <a:latin typeface="Segoe UI"/>
              </a:rPr>
              <a:t>  ·  human owns the wet-lab call.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765292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D8A431"/>
                </a:solidFill>
                <a:latin typeface="Segoe UI"/>
              </a:rPr>
              <a:t>Federate, don’t migrate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583680"/>
            <a:ext cx="11183112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C6C64"/>
                </a:solidFill>
                <a:latin typeface="Segoe UI"/>
              </a:rPr>
              <a:t>Concept A of three (Cloud-Centric Platform) · peers: Edge + AI Agent Ops, Data Fabric/Intelligence    [brief] [deck] [H/design]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8A431"/>
                </a:solidFill>
                <a:latin typeface="Segoe UI"/>
              </a:rPr>
              <a:t>DELIVERABLE 2  ·  PERSONA-DRIVEN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3526"/>
                </a:solidFill>
                <a:latin typeface="Georgia"/>
              </a:rPr>
              <a:t>Human + AI Collaboration — Discovery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24712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C64"/>
                </a:solidFill>
                <a:latin typeface="Segoe UI"/>
              </a:rPr>
              <a:t>Decisions the copilot supports — not replaces — across the discovery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83112" cy="749808"/>
          </a:xfrm>
          <a:prstGeom prst="roundRect">
            <a:avLst>
              <a:gd name="adj" fmla="val 7000"/>
            </a:avLst>
          </a:prstGeom>
          <a:solidFill>
            <a:srgbClr val="FBF3DD"/>
          </a:solidFill>
          <a:ln w="12700">
            <a:solidFill>
              <a:srgbClr val="D8A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D8A431"/>
                </a:solidFill>
                <a:latin typeface="Segoe UI"/>
              </a:rPr>
              <a:t>FRAMING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1B2924"/>
                </a:solidFill>
                <a:latin typeface="Segoe UI"/>
              </a:rPr>
              <a:t>“An AI copilot that assists </a:t>
            </a:r>
            <a:r>
              <a:rPr sz="1250" b="1" i="1">
                <a:solidFill>
                  <a:srgbClr val="0B3526"/>
                </a:solidFill>
                <a:latin typeface="Segoe UI"/>
              </a:rPr>
              <a:t>&lt;persona&gt;</a:t>
            </a:r>
            <a:r>
              <a:rPr sz="1250" b="0" i="1">
                <a:solidFill>
                  <a:srgbClr val="1B2924"/>
                </a:solidFill>
                <a:latin typeface="Segoe UI"/>
              </a:rPr>
              <a:t> by synthesizing </a:t>
            </a:r>
            <a:r>
              <a:rPr sz="1250" b="1" i="1">
                <a:solidFill>
                  <a:srgbClr val="0B3526"/>
                </a:solidFill>
                <a:latin typeface="Segoe UI"/>
              </a:rPr>
              <a:t>&lt;data&gt;</a:t>
            </a:r>
            <a:r>
              <a:rPr sz="1250" b="0" i="1">
                <a:solidFill>
                  <a:srgbClr val="1B2924"/>
                </a:solidFill>
                <a:latin typeface="Segoe UI"/>
              </a:rPr>
              <a:t>, flagging </a:t>
            </a:r>
            <a:r>
              <a:rPr sz="1250" b="1" i="1">
                <a:solidFill>
                  <a:srgbClr val="0B3526"/>
                </a:solidFill>
                <a:latin typeface="Segoe UI"/>
              </a:rPr>
              <a:t>&lt;risks&gt;</a:t>
            </a:r>
            <a:r>
              <a:rPr sz="1250" b="0" i="1">
                <a:solidFill>
                  <a:srgbClr val="1B2924"/>
                </a:solidFill>
                <a:latin typeface="Segoe UI"/>
              </a:rPr>
              <a:t>, and recommending </a:t>
            </a:r>
            <a:r>
              <a:rPr sz="1250" b="1" i="1">
                <a:solidFill>
                  <a:srgbClr val="0B3526"/>
                </a:solidFill>
                <a:latin typeface="Segoe UI"/>
              </a:rPr>
              <a:t>&lt;actions&gt;</a:t>
            </a:r>
            <a:r>
              <a:rPr sz="1250" b="0" i="1">
                <a:solidFill>
                  <a:srgbClr val="1B2924"/>
                </a:solidFill>
                <a:latin typeface="Segoe UI"/>
              </a:rPr>
              <a:t> — while the human retains accountability.”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95728"/>
            <a:ext cx="5408676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5408676" cy="713232"/>
          </a:xfrm>
          <a:prstGeom prst="roundRect">
            <a:avLst>
              <a:gd name="adj" fmla="val 4000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5408676" cy="256032"/>
          </a:xfrm>
          <a:prstGeom prst="rect">
            <a:avLst/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2542032"/>
            <a:ext cx="420624" cy="42062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B3526"/>
                </a:solidFill>
                <a:latin typeface="Georgia"/>
              </a:rPr>
              <a:t>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8880"/>
            <a:ext cx="45399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Georgia"/>
              </a:rPr>
              <a:t>Discovery scientist /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Georgia"/>
              </a:rPr>
              <a:t>computational chemist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98648"/>
            <a:ext cx="4539996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F1E2BE"/>
                </a:solidFill>
                <a:latin typeface="Segoe UI"/>
              </a:rPr>
              <a:t>R&amp;D · small-molecule +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18688"/>
            <a:ext cx="5042916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1B2924"/>
                </a:solidFill>
                <a:latin typeface="Segoe UI"/>
              </a:rPr>
              <a:t>Synthesizes target + Mayo multimodal data, flags non-synthesizable or toxic candidates pre-lab, and recommends a ranked shortlist — human retains scientific accountability.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Agent does:  </a:t>
            </a:r>
            <a:r>
              <a:rPr sz="950" b="0">
                <a:solidFill>
                  <a:srgbClr val="1B2924"/>
                </a:solidFill>
                <a:latin typeface="Segoe UI"/>
              </a:rPr>
              <a:t>Runs target → design → dock → triage; returns ranked candidates with evidence &amp; lineage.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Supports (not replaces):  </a:t>
            </a:r>
            <a:r>
              <a:rPr sz="950" b="0">
                <a:solidFill>
                  <a:srgbClr val="1B2924"/>
                </a:solidFill>
                <a:latin typeface="Segoe UI"/>
              </a:rPr>
              <a:t>Which candidates advance to wet-lab; target go / no-go.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65776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Human + AI:  </a:t>
            </a:r>
            <a:r>
              <a:rPr sz="950" b="0">
                <a:solidFill>
                  <a:srgbClr val="1B2924"/>
                </a:solidFill>
                <a:latin typeface="Segoe UI"/>
              </a:rPr>
              <a:t>AI triages at portfolio scale; scientist validates biology and approves the shortlist (four-eyes).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32704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New roles / interfaces:  </a:t>
            </a:r>
            <a:r>
              <a:rPr sz="950" b="0">
                <a:solidFill>
                  <a:srgbClr val="1B2924"/>
                </a:solidFill>
                <a:latin typeface="Segoe UI"/>
              </a:rPr>
              <a:t>In-silico triage scientist · agent workbench over Foundry · HPC cost steward.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7356" y="2395728"/>
            <a:ext cx="5408676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7356" y="2395728"/>
            <a:ext cx="5408676" cy="713232"/>
          </a:xfrm>
          <a:prstGeom prst="roundRect">
            <a:avLst>
              <a:gd name="adj" fmla="val 4000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7356" y="2852928"/>
            <a:ext cx="5408676" cy="256032"/>
          </a:xfrm>
          <a:prstGeom prst="rect">
            <a:avLst/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8524" y="2542032"/>
            <a:ext cx="420624" cy="420624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B3526"/>
                </a:solidFill>
                <a:latin typeface="Georgia"/>
              </a:rPr>
              <a:t>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6" y="2468880"/>
            <a:ext cx="4539996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Georgia"/>
              </a:rPr>
              <a:t>Antibody / protein-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Georgia"/>
              </a:rPr>
              <a:t>design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8876" y="2898648"/>
            <a:ext cx="4539996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F1E2BE"/>
                </a:solidFill>
                <a:latin typeface="Segoe UI"/>
              </a:rPr>
              <a:t>R&amp;D · biologics (Protillion)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0236" y="3218688"/>
            <a:ext cx="5042916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1B2924"/>
                </a:solidFill>
                <a:latin typeface="Segoe UI"/>
              </a:rPr>
              <a:t>Synthesizes sequence + structure + developability data, flags immunogenicity &amp; liability risks, and recommends optimized binders — human retains design accountability.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236" y="3931920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Agent does:  </a:t>
            </a:r>
            <a:r>
              <a:rPr sz="950" b="0">
                <a:solidFill>
                  <a:srgbClr val="1B2924"/>
                </a:solidFill>
                <a:latin typeface="Segoe UI"/>
              </a:rPr>
              <a:t>Orchestrates antibody LMs + generative design + ABodyBuilder structure + developability/immunogenicity screens.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236" y="4498848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Supports (not replaces):  </a:t>
            </a:r>
            <a:r>
              <a:rPr sz="950" b="0">
                <a:solidFill>
                  <a:srgbClr val="1B2924"/>
                </a:solidFill>
                <a:latin typeface="Segoe UI"/>
              </a:rPr>
              <a:t>Which scaffolds / sequences to synthesize; potency-vs-developability trade-offs.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0236" y="5065776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Human + AI:  </a:t>
            </a:r>
            <a:r>
              <a:rPr sz="950" b="0">
                <a:solidFill>
                  <a:srgbClr val="1B2924"/>
                </a:solidFill>
                <a:latin typeface="Segoe UI"/>
              </a:rPr>
              <a:t>AI proposes &amp; optimizes; engineer judges manufacturability and approves designs.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632704"/>
            <a:ext cx="5042916" cy="5669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8A431"/>
                </a:solidFill>
                <a:latin typeface="Segoe UI"/>
              </a:rPr>
              <a:t>New roles / interfaces:  </a:t>
            </a:r>
            <a:r>
              <a:rPr sz="950" b="0">
                <a:solidFill>
                  <a:srgbClr val="1B2924"/>
                </a:solidFill>
                <a:latin typeface="Segoe UI"/>
              </a:rPr>
              <a:t>Model-catalog curator · biologics agent-ops engineer.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11183112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5C6C64"/>
                </a:solidFill>
                <a:latin typeface="Segoe UI"/>
              </a:rPr>
              <a:t>Personas tie to the discovery workflow, not titles · AI augments; the human owns the regulated/scientific decision    [brief] [H/design]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8A431"/>
                </a:solidFill>
                <a:latin typeface="Segoe UI"/>
              </a:rPr>
              <a:t>DELIVERABLE 3  ·  C-SUITE RELEVANCE — “SO WHAT?”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B3526"/>
                </a:solidFill>
                <a:latin typeface="Georgia"/>
              </a:rPr>
              <a:t>The value in each executive’s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24712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C64"/>
                </a:solidFill>
                <a:latin typeface="Segoe UI"/>
              </a:rPr>
              <a:t>Multi-step discovery orchestration · mapped to three executive lenses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17904"/>
            <a:ext cx="3483864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3483864" cy="932688"/>
          </a:xfrm>
          <a:prstGeom prst="roundRect">
            <a:avLst>
              <a:gd name="adj" fmla="val 5000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57984"/>
            <a:ext cx="3483864" cy="292608"/>
          </a:xfrm>
          <a:prstGeom prst="rect">
            <a:avLst/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700784"/>
            <a:ext cx="457200" cy="45720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3526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7"/>
            <a:ext cx="256946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9967"/>
            <a:ext cx="2569464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1E2BE"/>
                </a:solidFill>
                <a:latin typeface="Segoe UI"/>
              </a:rPr>
              <a:t>Rob Davis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23744"/>
            <a:ext cx="31181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766E"/>
                </a:solidFill>
                <a:latin typeface="Segoe UI"/>
              </a:rPr>
              <a:t>Modernization · scale ·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118104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B2924"/>
                </a:solidFill>
                <a:latin typeface="Georgia"/>
              </a:rPr>
              <a:t>Refill the pipeline before the 2028 Keytruda cliff — without abandoning our Google &amp; AWS bets.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Federated platform = durable speed as a strategic moat (data + platforms + partnerships).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08576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Protects ~46% of revenue exposed at the cliff.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12080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AI scaled responsibly — a board-grade governance 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517904"/>
            <a:ext cx="3483864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2544" y="1517904"/>
            <a:ext cx="3483864" cy="932688"/>
          </a:xfrm>
          <a:prstGeom prst="roundRect">
            <a:avLst>
              <a:gd name="adj" fmla="val 5000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2157984"/>
            <a:ext cx="3483864" cy="292608"/>
          </a:xfrm>
          <a:prstGeom prst="rect">
            <a:avLst/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53712" y="1700784"/>
            <a:ext cx="457200" cy="45720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3526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1664207"/>
            <a:ext cx="256946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Business /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3" y="2029967"/>
            <a:ext cx="2569464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1E2BE"/>
                </a:solidFill>
                <a:latin typeface="Segoe UI"/>
              </a:rPr>
              <a:t>Dean Li · Pres MRL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523744"/>
            <a:ext cx="31181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766E"/>
                </a:solidFill>
                <a:latin typeface="Segoe UI"/>
              </a:rPr>
              <a:t>Speed · throughput ·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2816352"/>
            <a:ext cx="3118104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B2924"/>
                </a:solidFill>
                <a:latin typeface="Georgia"/>
              </a:rPr>
              <a:t>More validated candidates per cycle, at portfolio scale — 12–18 mo to clinic vs 4–6 yr norm.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005072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Scientists shift from running tools to deciding.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608576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Fewer costly late-stage failures (pre-lab triage).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5212080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On-demand HPC — capacity without capex.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7" y="1517904"/>
            <a:ext cx="3483864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1517904"/>
            <a:ext cx="3483864" cy="932688"/>
          </a:xfrm>
          <a:prstGeom prst="roundRect">
            <a:avLst>
              <a:gd name="adj" fmla="val 5000"/>
            </a:avLst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2157984"/>
            <a:ext cx="3483864" cy="292608"/>
          </a:xfrm>
          <a:prstGeom prst="rect">
            <a:avLst/>
          </a:prstGeom>
          <a:solidFill>
            <a:srgbClr val="0B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03336" y="1700784"/>
            <a:ext cx="457200" cy="457200"/>
          </a:xfrm>
          <a:prstGeom prst="ellipse">
            <a:avLst/>
          </a:prstGeom>
          <a:solidFill>
            <a:srgbClr val="D8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B3526"/>
                </a:solidFill>
                <a:latin typeface="Georg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7" y="1664207"/>
            <a:ext cx="256946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Risk /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7" y="2029967"/>
            <a:ext cx="2569464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1E2BE"/>
                </a:solidFill>
                <a:latin typeface="Segoe UI"/>
              </a:rPr>
              <a:t>Stelios Tsinontides ·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2523744"/>
            <a:ext cx="31181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766E"/>
                </a:solidFill>
                <a:latin typeface="Segoe UI"/>
              </a:rPr>
              <a:t>Safety · trust · regulatory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7" y="2816352"/>
            <a:ext cx="3118104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B2924"/>
                </a:solidFill>
                <a:latin typeface="Georgia"/>
              </a:rPr>
              <a:t>Inspection-ready from research onward — AI triages, a human owns every regulated call.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4005072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Purview lineage + Part 11 / ALCOA+-ready provenance on every candidate.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4608576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Annex 22 honored: GenAI never makes the critical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5212080"/>
            <a:ext cx="311810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A431"/>
                </a:solidFill>
                <a:latin typeface="Segoe UI"/>
              </a:rPr>
              <a:t>•  </a:t>
            </a:r>
            <a:r>
              <a:rPr sz="969" b="0">
                <a:solidFill>
                  <a:srgbClr val="1B2924"/>
                </a:solidFill>
                <a:latin typeface="Segoe UI"/>
              </a:rPr>
              <a:t>Agents governed by Entra Agent ID — least privilege, full audit.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053328"/>
            <a:ext cx="11183112" cy="475488"/>
          </a:xfrm>
          <a:prstGeom prst="roundRect">
            <a:avLst>
              <a:gd name="adj" fmla="val 8000"/>
            </a:avLst>
          </a:prstGeom>
          <a:solidFill>
            <a:srgbClr val="155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053328"/>
            <a:ext cx="69494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Translate architecture → </a:t>
            </a:r>
            <a:r>
              <a:rPr sz="1050" b="1">
                <a:solidFill>
                  <a:srgbClr val="F1E2BE"/>
                </a:solidFill>
                <a:latin typeface="Segoe UI"/>
              </a:rPr>
              <a:t>operational outcomes the business cares about.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053328"/>
            <a:ext cx="42062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Strengthen controls, transparency &amp; defensibility.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